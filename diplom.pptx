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6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8" r:id="rId13"/>
    <p:sldId id="276" r:id="rId14"/>
    <p:sldId id="277" r:id="rId15"/>
    <p:sldId id="258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1EB049"/>
    <a:srgbClr val="2563EB"/>
    <a:srgbClr val="470FAE"/>
    <a:srgbClr val="5D418D"/>
    <a:srgbClr val="AE4A84"/>
    <a:srgbClr val="8C3C6A"/>
    <a:srgbClr val="FBBE07"/>
    <a:srgbClr val="F49B17"/>
    <a:srgbClr val="412E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50" autoAdjust="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90EAD4-C4D1-43CC-B8E8-7A5C1E1752B2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BCA44-5B73-45F3-849E-4DB38BFF77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59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7BCA44-5B73-45F3-849E-4DB38BFF77DB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53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4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676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213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253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5593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8042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32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9520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5145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755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3658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D1301-0E2F-4A95-9420-F187F9112D05}" type="datetimeFigureOut">
              <a:rPr lang="ru-RU" smtClean="0"/>
              <a:t>24.06.2026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89843-94A4-43A7-BDAF-BAAAFCB155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234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A889F-9200-25B6-0541-45C00DE0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D25AA7F-93A2-BA11-8D02-DF6722C21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0960"/>
            <a:ext cx="12192000" cy="6927669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7CE4CE9-8E40-5BF6-D043-9826631075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534" y="2312110"/>
            <a:ext cx="7018465" cy="420734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08BCF31-4805-ABA1-2F74-45D43E78D8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9654" y="5117743"/>
            <a:ext cx="1122157" cy="1293902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A8763D5-1CBB-F5DD-3209-8E275E793B3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97" y="112340"/>
            <a:ext cx="3405051" cy="1375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FBE8EB-97C2-ED57-01C3-B2A7AB7F8074}"/>
              </a:ext>
            </a:extLst>
          </p:cNvPr>
          <p:cNvSpPr txBox="1"/>
          <p:nvPr/>
        </p:nvSpPr>
        <p:spPr>
          <a:xfrm>
            <a:off x="2746477" y="1488335"/>
            <a:ext cx="669904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E5B16-99C5-2C9B-0033-2399F1E5BA87}"/>
              </a:ext>
            </a:extLst>
          </p:cNvPr>
          <p:cNvSpPr txBox="1"/>
          <p:nvPr/>
        </p:nvSpPr>
        <p:spPr>
          <a:xfrm>
            <a:off x="7853154" y="2760631"/>
            <a:ext cx="373731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Автор</a:t>
            </a:r>
            <a:r>
              <a:rPr lang="en-US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Катков Даниил Сергеевич</a:t>
            </a:r>
          </a:p>
          <a:p>
            <a:pPr algn="r"/>
            <a:endParaRPr lang="ru-RU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Научный руководитель: </a:t>
            </a:r>
            <a:endParaRPr lang="en-US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r"/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доцент кафедры прикладной математики, кандидат физико-математических наук</a:t>
            </a:r>
          </a:p>
          <a:p>
            <a:pPr algn="r"/>
            <a:r>
              <a:rPr lang="ru-RU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Мамедова Т. Ф. </a:t>
            </a:r>
          </a:p>
          <a:p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04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DE138-1423-E092-8C54-B0059C7E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44F5C6D-2A45-F2CB-D6B4-DECD51E76D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9C1AC4CB-B138-3E51-ADDE-C7F0EF74090D}"/>
              </a:ext>
            </a:extLst>
          </p:cNvPr>
          <p:cNvSpPr txBox="1">
            <a:spLocks/>
          </p:cNvSpPr>
          <p:nvPr/>
        </p:nvSpPr>
        <p:spPr>
          <a:xfrm>
            <a:off x="3809437" y="344032"/>
            <a:ext cx="4570874" cy="72679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Цель и задачи работы</a:t>
            </a:r>
          </a:p>
        </p:txBody>
      </p:sp>
      <p:sp>
        <p:nvSpPr>
          <p:cNvPr id="4" name="Объект 9">
            <a:extLst>
              <a:ext uri="{FF2B5EF4-FFF2-40B4-BE49-F238E27FC236}">
                <a16:creationId xmlns:a16="http://schemas.microsoft.com/office/drawing/2014/main" id="{8BC5A122-7E59-E795-C975-376923C357EA}"/>
              </a:ext>
            </a:extLst>
          </p:cNvPr>
          <p:cNvSpPr txBox="1">
            <a:spLocks/>
          </p:cNvSpPr>
          <p:nvPr/>
        </p:nvSpPr>
        <p:spPr>
          <a:xfrm>
            <a:off x="529296" y="1070830"/>
            <a:ext cx="11122514" cy="1823859"/>
          </a:xfrm>
          <a:prstGeom prst="rect">
            <a:avLst/>
          </a:prstGeom>
        </p:spPr>
        <p:txBody>
          <a:bodyPr numCol="1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Цель: </a:t>
            </a: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библиотеки для платформы </a:t>
            </a:r>
            <a:r>
              <a:rPr lang="ru-RU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</a:t>
            </a: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реализующей классический фильтр Калмана и нейросетевой </a:t>
            </a:r>
            <a:r>
              <a:rPr lang="ru-RU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сглаживатель</a:t>
            </a: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GPS-траекторий для повышения устойчивости оценки положения объекта.</a:t>
            </a:r>
          </a:p>
        </p:txBody>
      </p:sp>
      <p:sp>
        <p:nvSpPr>
          <p:cNvPr id="5" name="Объект 9">
            <a:extLst>
              <a:ext uri="{FF2B5EF4-FFF2-40B4-BE49-F238E27FC236}">
                <a16:creationId xmlns:a16="http://schemas.microsoft.com/office/drawing/2014/main" id="{663282E4-3F88-2129-7AC7-D4C64FD88C80}"/>
              </a:ext>
            </a:extLst>
          </p:cNvPr>
          <p:cNvSpPr txBox="1">
            <a:spLocks/>
          </p:cNvSpPr>
          <p:nvPr/>
        </p:nvSpPr>
        <p:spPr>
          <a:xfrm>
            <a:off x="551084" y="2641213"/>
            <a:ext cx="11111620" cy="3130249"/>
          </a:xfrm>
          <a:prstGeom prst="rect">
            <a:avLst/>
          </a:prstGeom>
        </p:spPr>
        <p:txBody>
          <a:bodyPr numCol="1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ru-RU" sz="20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Задачи: </a:t>
            </a:r>
          </a:p>
          <a:p>
            <a:pPr marL="514350" lvl="0" indent="-514350">
              <a:buClr>
                <a:srgbClr val="7030A0"/>
              </a:buClr>
              <a:buFont typeface="+mj-lt"/>
              <a:buAutoNum type="arabicPeriod"/>
            </a:pP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Спроектировать архитектуру </a:t>
            </a:r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Android-</a:t>
            </a: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библиотеки.</a:t>
            </a:r>
          </a:p>
          <a:p>
            <a:pPr marL="514350" lvl="0" indent="-514350">
              <a:buClr>
                <a:srgbClr val="7030A0"/>
              </a:buClr>
              <a:buFont typeface="+mj-lt"/>
              <a:buAutoNum type="arabicPeriod"/>
            </a:pP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Реализовать классический фильтр Калмана.</a:t>
            </a:r>
          </a:p>
          <a:p>
            <a:pPr marL="514350" lvl="0" indent="-514350">
              <a:buClr>
                <a:srgbClr val="7030A0"/>
              </a:buClr>
              <a:buFont typeface="+mj-lt"/>
              <a:buAutoNum type="arabicPeriod"/>
            </a:pP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Разработать нейросетевой </a:t>
            </a:r>
            <a:r>
              <a:rPr lang="ru-RU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сглаживатель</a:t>
            </a: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и определить его входные и целевые параметры.</a:t>
            </a:r>
          </a:p>
          <a:p>
            <a:pPr marL="514350" lvl="0" indent="-514350">
              <a:buClr>
                <a:srgbClr val="7030A0"/>
              </a:buClr>
              <a:buFont typeface="+mj-lt"/>
              <a:buAutoNum type="arabicPeriod"/>
            </a:pP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Реализовать сбор обучающих данных и обучение модели на устройстве.</a:t>
            </a:r>
          </a:p>
          <a:p>
            <a:pPr marL="514350" lvl="0" indent="-514350">
              <a:buClr>
                <a:srgbClr val="7030A0"/>
              </a:buClr>
              <a:buFont typeface="+mj-lt"/>
              <a:buAutoNum type="arabicPeriod"/>
            </a:pPr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Сравнить результаты.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3BA30-E7E0-9D5A-37E0-8620B4AFDCEB}"/>
              </a:ext>
            </a:extLst>
          </p:cNvPr>
          <p:cNvSpPr txBox="1"/>
          <p:nvPr/>
        </p:nvSpPr>
        <p:spPr>
          <a:xfrm>
            <a:off x="2713610" y="6030197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6660A6F4-B3E0-E9CB-77AC-101176689230}"/>
              </a:ext>
            </a:extLst>
          </p:cNvPr>
          <p:cNvSpPr txBox="1">
            <a:spLocks/>
          </p:cNvSpPr>
          <p:nvPr/>
        </p:nvSpPr>
        <p:spPr>
          <a:xfrm>
            <a:off x="11159121" y="6036273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2/14</a:t>
            </a:r>
          </a:p>
        </p:txBody>
      </p:sp>
    </p:spTree>
    <p:extLst>
      <p:ext uri="{BB962C8B-B14F-4D97-AF65-F5344CB8AC3E}">
        <p14:creationId xmlns:p14="http://schemas.microsoft.com/office/powerpoint/2010/main" val="4128205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D57DF-512C-1097-9D63-B6448E74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A3089DF-81E2-DFFA-37E2-B18AD4661D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2C29AD-13C5-1891-65AC-71A6659894FC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32BE4396-8C26-B1AE-67A3-08CFB99CF3DD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3/14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10813D93-3B4B-61DB-AD96-DF9D9C5E0220}"/>
              </a:ext>
            </a:extLst>
          </p:cNvPr>
          <p:cNvSpPr txBox="1">
            <a:spLocks/>
          </p:cNvSpPr>
          <p:nvPr/>
        </p:nvSpPr>
        <p:spPr>
          <a:xfrm>
            <a:off x="2687992" y="239593"/>
            <a:ext cx="6813764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Проблемы определения положения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EECAD938-CB31-653C-13D6-994827246723}"/>
              </a:ext>
            </a:extLst>
          </p:cNvPr>
          <p:cNvSpPr txBox="1">
            <a:spLocks/>
          </p:cNvSpPr>
          <p:nvPr/>
        </p:nvSpPr>
        <p:spPr>
          <a:xfrm>
            <a:off x="1575303" y="1377455"/>
            <a:ext cx="8745647" cy="225298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	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1E643D-77D5-D632-7087-4FB7C08EF205}"/>
              </a:ext>
            </a:extLst>
          </p:cNvPr>
          <p:cNvSpPr txBox="1"/>
          <p:nvPr/>
        </p:nvSpPr>
        <p:spPr>
          <a:xfrm>
            <a:off x="6292158" y="1582340"/>
            <a:ext cx="544113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Данные собранные смартфоном (</a:t>
            </a:r>
            <a:r>
              <a:rPr lang="en-US" dirty="0"/>
              <a:t>Huawei P40 Lite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endParaRPr lang="en-US" dirty="0"/>
          </a:p>
          <a:p>
            <a:r>
              <a:rPr lang="en-US" dirty="0"/>
              <a:t>GPS-</a:t>
            </a:r>
            <a:r>
              <a:rPr lang="ru-RU" dirty="0"/>
              <a:t>фиксов: 1303</a:t>
            </a:r>
            <a:endParaRPr lang="en-US" dirty="0"/>
          </a:p>
          <a:p>
            <a:endParaRPr lang="ru-RU" dirty="0"/>
          </a:p>
          <a:p>
            <a:r>
              <a:rPr lang="ru-RU" dirty="0"/>
              <a:t>Медианный скачок между соседними GPS-фиксами: 1.46 м</a:t>
            </a:r>
          </a:p>
          <a:p>
            <a:r>
              <a:rPr lang="ru-RU" dirty="0"/>
              <a:t>Максимальный скачок: 10.22 м</a:t>
            </a:r>
          </a:p>
          <a:p>
            <a:endParaRPr lang="ru-RU" dirty="0"/>
          </a:p>
          <a:p>
            <a:r>
              <a:rPr lang="ru-RU" dirty="0"/>
              <a:t>Скачков больше 3 м: 103 случая</a:t>
            </a:r>
          </a:p>
          <a:p>
            <a:r>
              <a:rPr lang="ru-RU" dirty="0"/>
              <a:t>Скачков больше 5 м: 9 случаев</a:t>
            </a:r>
          </a:p>
          <a:p>
            <a:r>
              <a:rPr lang="ru-RU" dirty="0"/>
              <a:t>Скачков больше 10 м: 1 случай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F16C98C-E1CC-2C7E-BBBB-341F657E3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51" r="27283"/>
          <a:stretch>
            <a:fillRect/>
          </a:stretch>
        </p:blipFill>
        <p:spPr>
          <a:xfrm>
            <a:off x="1269547" y="892360"/>
            <a:ext cx="3111977" cy="41063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FCED7D-D35E-039D-6735-D56B6BF87DB6}"/>
              </a:ext>
            </a:extLst>
          </p:cNvPr>
          <p:cNvSpPr txBox="1"/>
          <p:nvPr/>
        </p:nvSpPr>
        <p:spPr>
          <a:xfrm>
            <a:off x="533400" y="5058964"/>
            <a:ext cx="4663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Фрагмент одного из треков</a:t>
            </a:r>
            <a:b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ru-RU" sz="1600" dirty="0">
                <a:solidFill>
                  <a:srgbClr val="1EB04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Зеленым</a:t>
            </a: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показан пройденный маршрут, </a:t>
            </a:r>
            <a:r>
              <a:rPr lang="ru-RU" sz="1600" dirty="0">
                <a:solidFill>
                  <a:srgbClr val="2563EB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синим</a:t>
            </a: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GPS</a:t>
            </a: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-фиксы)</a:t>
            </a:r>
          </a:p>
        </p:txBody>
      </p:sp>
    </p:spTree>
    <p:extLst>
      <p:ext uri="{BB962C8B-B14F-4D97-AF65-F5344CB8AC3E}">
        <p14:creationId xmlns:p14="http://schemas.microsoft.com/office/powerpoint/2010/main" val="4130639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5F585-3A33-C7C6-05DE-A7C2A25BC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2B63E46-62D7-F42F-A55C-5864B6CD4A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FD4A7B-9943-5019-1C4C-4A5423968045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C2FADF9-EBB7-4845-0D50-A0E52D886F08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4/14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27C3C9E6-E0B4-0D1C-FE65-A0CC4422DA57}"/>
              </a:ext>
            </a:extLst>
          </p:cNvPr>
          <p:cNvSpPr txBox="1">
            <a:spLocks/>
          </p:cNvSpPr>
          <p:nvPr/>
        </p:nvSpPr>
        <p:spPr>
          <a:xfrm>
            <a:off x="3650017" y="247281"/>
            <a:ext cx="4889714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Общая схема библиотеки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E2CE8-9B44-4834-DB7E-4BA1768147B1}"/>
              </a:ext>
            </a:extLst>
          </p:cNvPr>
          <p:cNvSpPr txBox="1"/>
          <p:nvPr/>
        </p:nvSpPr>
        <p:spPr>
          <a:xfrm>
            <a:off x="1888275" y="1237631"/>
            <a:ext cx="1435008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GPS + IMU</a:t>
            </a:r>
            <a:endParaRPr lang="ru-RU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48EE2C-9400-6813-D758-93E5A28D9FF6}"/>
              </a:ext>
            </a:extLst>
          </p:cNvPr>
          <p:cNvSpPr txBox="1"/>
          <p:nvPr/>
        </p:nvSpPr>
        <p:spPr>
          <a:xfrm>
            <a:off x="4673061" y="1079337"/>
            <a:ext cx="2786475" cy="7078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Преобразование координат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829EC079-22F8-896B-94C5-547526315DFE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3323283" y="1433280"/>
            <a:ext cx="1349778" cy="44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6D5358-4718-DE92-2548-02D318A19B6F}"/>
              </a:ext>
            </a:extLst>
          </p:cNvPr>
          <p:cNvSpPr txBox="1"/>
          <p:nvPr/>
        </p:nvSpPr>
        <p:spPr>
          <a:xfrm>
            <a:off x="4673061" y="2882801"/>
            <a:ext cx="2786475" cy="4001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Фильтр Калмана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9748B5CE-2D36-6316-9096-99FA55A47D87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>
            <a:off x="6066299" y="1787223"/>
            <a:ext cx="0" cy="1095578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40202501-98FB-D603-FF1A-FD35FE81CC64}"/>
              </a:ext>
            </a:extLst>
          </p:cNvPr>
          <p:cNvCxnSpPr>
            <a:cxnSpLocks/>
            <a:stCxn id="13" idx="2"/>
            <a:endCxn id="20" idx="0"/>
          </p:cNvCxnSpPr>
          <p:nvPr/>
        </p:nvCxnSpPr>
        <p:spPr>
          <a:xfrm>
            <a:off x="6066299" y="3282911"/>
            <a:ext cx="0" cy="1104573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1F566D2-55BF-58A9-C91F-226C5559E506}"/>
              </a:ext>
            </a:extLst>
          </p:cNvPr>
          <p:cNvSpPr txBox="1"/>
          <p:nvPr/>
        </p:nvSpPr>
        <p:spPr>
          <a:xfrm>
            <a:off x="4864933" y="4387484"/>
            <a:ext cx="2402732" cy="7078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Нейросетевой </a:t>
            </a:r>
            <a:r>
              <a:rPr lang="ru-RU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сглаживатель</a:t>
            </a:r>
            <a:endParaRPr lang="ru-RU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C3731171-F2A3-EC69-28CD-F8D6913B59A2}"/>
              </a:ext>
            </a:extLst>
          </p:cNvPr>
          <p:cNvCxnSpPr>
            <a:cxnSpLocks/>
            <a:stCxn id="20" idx="3"/>
            <a:endCxn id="23" idx="1"/>
          </p:cNvCxnSpPr>
          <p:nvPr/>
        </p:nvCxnSpPr>
        <p:spPr>
          <a:xfrm>
            <a:off x="7267665" y="4741427"/>
            <a:ext cx="146691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01EEBD3-44FA-F6F2-D048-1D89F87A36C8}"/>
              </a:ext>
            </a:extLst>
          </p:cNvPr>
          <p:cNvSpPr txBox="1"/>
          <p:nvPr/>
        </p:nvSpPr>
        <p:spPr>
          <a:xfrm>
            <a:off x="8734576" y="4387484"/>
            <a:ext cx="1701608" cy="7078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Поправки маршрута</a:t>
            </a:r>
          </a:p>
        </p:txBody>
      </p:sp>
      <p:cxnSp>
        <p:nvCxnSpPr>
          <p:cNvPr id="48" name="Прямая со стрелкой 47">
            <a:extLst>
              <a:ext uri="{FF2B5EF4-FFF2-40B4-BE49-F238E27FC236}">
                <a16:creationId xmlns:a16="http://schemas.microsoft.com/office/drawing/2014/main" id="{E09E67E7-3131-155D-06EA-59601C3F1861}"/>
              </a:ext>
            </a:extLst>
          </p:cNvPr>
          <p:cNvCxnSpPr>
            <a:cxnSpLocks/>
            <a:stCxn id="13" idx="3"/>
            <a:endCxn id="52" idx="1"/>
          </p:cNvCxnSpPr>
          <p:nvPr/>
        </p:nvCxnSpPr>
        <p:spPr>
          <a:xfrm>
            <a:off x="7459536" y="3082856"/>
            <a:ext cx="924478" cy="378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960C44F-BF8E-0EDE-6972-AAD018DD7F7F}"/>
              </a:ext>
            </a:extLst>
          </p:cNvPr>
          <p:cNvSpPr txBox="1"/>
          <p:nvPr/>
        </p:nvSpPr>
        <p:spPr>
          <a:xfrm>
            <a:off x="8384014" y="2732694"/>
            <a:ext cx="2402732" cy="70788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Отображение маршрута</a:t>
            </a:r>
          </a:p>
        </p:txBody>
      </p: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F9785F93-B554-D8D0-F304-78EBEBF95FE2}"/>
              </a:ext>
            </a:extLst>
          </p:cNvPr>
          <p:cNvCxnSpPr>
            <a:cxnSpLocks/>
            <a:stCxn id="23" idx="0"/>
            <a:endCxn id="52" idx="2"/>
          </p:cNvCxnSpPr>
          <p:nvPr/>
        </p:nvCxnSpPr>
        <p:spPr>
          <a:xfrm flipV="1">
            <a:off x="9585380" y="3440580"/>
            <a:ext cx="0" cy="94690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2A3FA2E-75C1-89DD-4F09-E2B24CA5C79F}"/>
              </a:ext>
            </a:extLst>
          </p:cNvPr>
          <p:cNvSpPr txBox="1"/>
          <p:nvPr/>
        </p:nvSpPr>
        <p:spPr>
          <a:xfrm>
            <a:off x="7398192" y="3801649"/>
            <a:ext cx="21338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Задержка в </a:t>
            </a:r>
            <a:r>
              <a:rPr lang="en-US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 </a:t>
            </a:r>
            <a:r>
              <a:rPr lang="ru-RU" sz="16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точек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EFFF62-CA6A-12E6-EDBE-2D7F2D8DF754}"/>
              </a:ext>
            </a:extLst>
          </p:cNvPr>
          <p:cNvSpPr txBox="1"/>
          <p:nvPr/>
        </p:nvSpPr>
        <p:spPr>
          <a:xfrm>
            <a:off x="628619" y="2205693"/>
            <a:ext cx="328341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IMU — инерциальный измерительный модуль, используемый для получения данных об ускорении и ориентации устройства.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761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C57BE-3596-EDBC-7F76-46449FF8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E7102C-0258-0F8A-FDE1-296B075EF4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A93E08-3A06-6AE5-121C-AB6E06B36CF4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7CAE3D7E-C667-B332-30C2-151339F47A44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5/14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B7AA82E7-1E30-1F93-8EB4-9848A83AF131}"/>
              </a:ext>
            </a:extLst>
          </p:cNvPr>
          <p:cNvSpPr txBox="1">
            <a:spLocks/>
          </p:cNvSpPr>
          <p:nvPr/>
        </p:nvSpPr>
        <p:spPr>
          <a:xfrm>
            <a:off x="3650017" y="247281"/>
            <a:ext cx="4889714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Архитектура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20A9EA-26A6-8E1D-D705-CECE44BC6F51}"/>
              </a:ext>
            </a:extLst>
          </p:cNvPr>
          <p:cNvSpPr txBox="1"/>
          <p:nvPr/>
        </p:nvSpPr>
        <p:spPr>
          <a:xfrm>
            <a:off x="3596024" y="1286702"/>
            <a:ext cx="1040408" cy="578882"/>
          </a:xfrm>
          <a:prstGeom prst="round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:app</a:t>
            </a:r>
            <a:endParaRPr lang="ru-RU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94F82A-3A4D-A2D4-6B9C-E7B6CA346EFD}"/>
              </a:ext>
            </a:extLst>
          </p:cNvPr>
          <p:cNvSpPr txBox="1"/>
          <p:nvPr/>
        </p:nvSpPr>
        <p:spPr>
          <a:xfrm>
            <a:off x="2803655" y="2329934"/>
            <a:ext cx="2625145" cy="57888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core:android</a:t>
            </a:r>
            <a:endParaRPr lang="ru-RU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60415-3C5B-A596-414F-12FFD9EB9BAC}"/>
              </a:ext>
            </a:extLst>
          </p:cNvPr>
          <p:cNvSpPr txBox="1"/>
          <p:nvPr/>
        </p:nvSpPr>
        <p:spPr>
          <a:xfrm>
            <a:off x="2910558" y="3385403"/>
            <a:ext cx="2411338" cy="57888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core:engine</a:t>
            </a:r>
            <a:endParaRPr lang="ru-RU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F1713-6A71-D38F-00CF-B4A14E6F56AB}"/>
              </a:ext>
            </a:extLst>
          </p:cNvPr>
          <p:cNvSpPr txBox="1"/>
          <p:nvPr/>
        </p:nvSpPr>
        <p:spPr>
          <a:xfrm>
            <a:off x="318998" y="3964285"/>
            <a:ext cx="2233916" cy="57888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core:model</a:t>
            </a:r>
            <a:endParaRPr lang="ru-RU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0FF949-95F0-697A-6A4A-DDC1C9D4A5AB}"/>
              </a:ext>
            </a:extLst>
          </p:cNvPr>
          <p:cNvSpPr txBox="1"/>
          <p:nvPr/>
        </p:nvSpPr>
        <p:spPr>
          <a:xfrm>
            <a:off x="3111723" y="4458544"/>
            <a:ext cx="2009008" cy="578882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  <a:r>
              <a:rPr lang="en-US" sz="2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core:data</a:t>
            </a:r>
            <a:endParaRPr lang="ru-RU" sz="28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DF4CF56A-E2A6-365D-78AC-B8B142D1919F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4116228" y="1865584"/>
            <a:ext cx="0" cy="46435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A0FAA6FF-B62B-6E37-49F6-EE49B47D13F8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flipH="1">
            <a:off x="4116227" y="2908816"/>
            <a:ext cx="1" cy="47658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687A3490-BB6D-CC36-1662-C1D063D314D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4116227" y="3964285"/>
            <a:ext cx="0" cy="4942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EC2DB89-B583-6D55-48BD-8DAE8FFB49FF}"/>
              </a:ext>
            </a:extLst>
          </p:cNvPr>
          <p:cNvSpPr txBox="1"/>
          <p:nvPr/>
        </p:nvSpPr>
        <p:spPr>
          <a:xfrm>
            <a:off x="5756456" y="1391477"/>
            <a:ext cx="41067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</a:t>
            </a:r>
            <a:r>
              <a:rPr lang="en-US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VM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и архитектурная навигация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22FE987-3FA1-3944-DDD5-020A6CC862BB}"/>
              </a:ext>
            </a:extLst>
          </p:cNvPr>
          <p:cNvSpPr txBox="1"/>
          <p:nvPr/>
        </p:nvSpPr>
        <p:spPr>
          <a:xfrm>
            <a:off x="5756456" y="2296209"/>
            <a:ext cx="47021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сервисы (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GPS, IMU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</a:t>
            </a:r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хранилище,</a:t>
            </a:r>
          </a:p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логирование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A521CE-95B3-CAC8-6AAE-8989CCF7225D}"/>
              </a:ext>
            </a:extLst>
          </p:cNvPr>
          <p:cNvSpPr txBox="1"/>
          <p:nvPr/>
        </p:nvSpPr>
        <p:spPr>
          <a:xfrm>
            <a:off x="5756456" y="3347509"/>
            <a:ext cx="5566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Ядро проекта, Фильтр Калмана, нейросеть и вычисления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D174DD-9490-8E1C-F23D-1C0784B5324C}"/>
              </a:ext>
            </a:extLst>
          </p:cNvPr>
          <p:cNvSpPr txBox="1"/>
          <p:nvPr/>
        </p:nvSpPr>
        <p:spPr>
          <a:xfrm>
            <a:off x="5836019" y="4527284"/>
            <a:ext cx="3635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Хранение и обработка данных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B26B4A-2CAE-8E2A-5B38-E726A39085AE}"/>
              </a:ext>
            </a:extLst>
          </p:cNvPr>
          <p:cNvSpPr txBox="1"/>
          <p:nvPr/>
        </p:nvSpPr>
        <p:spPr>
          <a:xfrm>
            <a:off x="487656" y="4714260"/>
            <a:ext cx="1896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DTO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и другие модели</a:t>
            </a:r>
          </a:p>
        </p:txBody>
      </p:sp>
    </p:spTree>
    <p:extLst>
      <p:ext uri="{BB962C8B-B14F-4D97-AF65-F5344CB8AC3E}">
        <p14:creationId xmlns:p14="http://schemas.microsoft.com/office/powerpoint/2010/main" val="34361000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F7764-4083-81EA-64B5-98305E0FD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196F95-72C7-B670-E8D6-A5566BF62E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9974C4-D950-4C23-A8C3-9644D62B4066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C8D4D39-7E8D-DF72-8745-9F2E7085F0BA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6/14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DB4915DB-4D62-9587-E4BF-E92DEB8867AD}"/>
              </a:ext>
            </a:extLst>
          </p:cNvPr>
          <p:cNvSpPr txBox="1">
            <a:spLocks/>
          </p:cNvSpPr>
          <p:nvPr/>
        </p:nvSpPr>
        <p:spPr>
          <a:xfrm>
            <a:off x="2771620" y="201054"/>
            <a:ext cx="6646508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Классический фильтр Калмана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4871EC-2FA9-E8D2-E93D-499CD3B954C4}"/>
                  </a:ext>
                </a:extLst>
              </p:cNvPr>
              <p:cNvSpPr txBox="1"/>
              <p:nvPr/>
            </p:nvSpPr>
            <p:spPr>
              <a:xfrm>
                <a:off x="371114" y="1510603"/>
                <a:ext cx="3248025" cy="3942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ru-RU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−1|</m:t>
                          </m:r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  <m:r>
                        <a:rPr lang="ru-RU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ru-RU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𝐵</m:t>
                      </m:r>
                      <m:r>
                        <a:rPr lang="ru-RU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4871EC-2FA9-E8D2-E93D-499CD3B95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114" y="1510603"/>
                <a:ext cx="3248025" cy="394210"/>
              </a:xfrm>
              <a:prstGeom prst="rect">
                <a:avLst/>
              </a:prstGeom>
              <a:blipFill>
                <a:blip r:embed="rId3"/>
                <a:stretch>
                  <a:fillRect b="-93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A734BD-EBC2-5F6E-38B0-22EBCD7EF8FD}"/>
                  </a:ext>
                </a:extLst>
              </p:cNvPr>
              <p:cNvSpPr txBox="1"/>
              <p:nvPr/>
            </p:nvSpPr>
            <p:spPr>
              <a:xfrm>
                <a:off x="271787" y="796486"/>
                <a:ext cx="2305050" cy="7552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ctr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ru-RU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ru-RU" sz="1400" dirty="0">
                  <a:effectLst/>
                  <a:latin typeface="Calibri" panose="020F050202020403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A734BD-EBC2-5F6E-38B0-22EBCD7EF8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87" y="796486"/>
                <a:ext cx="2305050" cy="7552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5E22AE6C-6395-C7B5-96DA-14294E4D1D41}"/>
              </a:ext>
            </a:extLst>
          </p:cNvPr>
          <p:cNvSpPr txBox="1"/>
          <p:nvPr/>
        </p:nvSpPr>
        <p:spPr>
          <a:xfrm>
            <a:off x="2189706" y="958890"/>
            <a:ext cx="309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пространство состояний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1A08FB-C236-5362-D3FB-38812424F679}"/>
                  </a:ext>
                </a:extLst>
              </p:cNvPr>
              <p:cNvSpPr txBox="1"/>
              <p:nvPr/>
            </p:nvSpPr>
            <p:spPr>
              <a:xfrm>
                <a:off x="8440693" y="667090"/>
                <a:ext cx="2486025" cy="1126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ker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1" ker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en-US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ru-RU" i="1" ker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71A08FB-C236-5362-D3FB-38812424F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0693" y="667090"/>
                <a:ext cx="2486025" cy="11269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B44E87-38D5-F6FF-D5F4-9C27594C4361}"/>
                  </a:ext>
                </a:extLst>
              </p:cNvPr>
              <p:cNvSpPr txBox="1"/>
              <p:nvPr/>
            </p:nvSpPr>
            <p:spPr>
              <a:xfrm>
                <a:off x="81652" y="1996199"/>
                <a:ext cx="2305050" cy="5818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49580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𝑔𝑒𝑜</m:t>
                                    </m:r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𝑦</m:t>
                                    </m:r>
                                  </m:sub>
                                  <m:sup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𝑔𝑒𝑜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2B44E87-38D5-F6FF-D5F4-9C27594C43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52" y="1996199"/>
                <a:ext cx="2305050" cy="58182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E248B335-0386-6D0C-CCAE-12925A088AD6}"/>
              </a:ext>
            </a:extLst>
          </p:cNvPr>
          <p:cNvSpPr txBox="1"/>
          <p:nvPr/>
        </p:nvSpPr>
        <p:spPr>
          <a:xfrm>
            <a:off x="2005702" y="2125649"/>
            <a:ext cx="42816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kern="0" dirty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ru-RU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управляющий вход (данные</a:t>
            </a:r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</a:t>
            </a:r>
            <a:r>
              <a:rPr lang="ru-RU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IMU</a:t>
            </a:r>
            <a:r>
              <a:rPr lang="ru-RU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 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8AC24-4E62-91EA-D513-08352F598A29}"/>
                  </a:ext>
                </a:extLst>
              </p:cNvPr>
              <p:cNvSpPr txBox="1"/>
              <p:nvPr/>
            </p:nvSpPr>
            <p:spPr>
              <a:xfrm>
                <a:off x="7959556" y="1305684"/>
                <a:ext cx="3438526" cy="24604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𝐵</m:t>
                      </m:r>
                      <m:r>
                        <a:rPr lang="ru-RU" i="1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ru-RU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sSup>
                                  <m:sSup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ru-RU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sSup>
                                  <m:sSupPr>
                                    <m:ctrlP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ru-RU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ru-RU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Δ</m:t>
                                </m:r>
                                <m:r>
                                  <a:rPr lang="ru-RU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𝑡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ru-RU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F8AC24-4E62-91EA-D513-08352F598A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9556" y="1305684"/>
                <a:ext cx="3438526" cy="246048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B054B5-1751-903C-F7F8-66CEA9A671C0}"/>
                  </a:ext>
                </a:extLst>
              </p:cNvPr>
              <p:cNvSpPr txBox="1"/>
              <p:nvPr/>
            </p:nvSpPr>
            <p:spPr>
              <a:xfrm>
                <a:off x="-83625" y="2713269"/>
                <a:ext cx="3881437" cy="3995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−1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sSubSup>
                        <m:sSub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EB054B5-1751-903C-F7F8-66CEA9A67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3625" y="2713269"/>
                <a:ext cx="3881437" cy="399597"/>
              </a:xfrm>
              <a:prstGeom prst="rect">
                <a:avLst/>
              </a:prstGeom>
              <a:blipFill>
                <a:blip r:embed="rId8"/>
                <a:stretch>
                  <a:fillRect t="-43939" b="-1227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7BED4D26-D2A6-CF2A-C6A5-E20A54C6A4C7}"/>
              </a:ext>
            </a:extLst>
          </p:cNvPr>
          <p:cNvSpPr txBox="1"/>
          <p:nvPr/>
        </p:nvSpPr>
        <p:spPr>
          <a:xfrm>
            <a:off x="3530438" y="2779463"/>
            <a:ext cx="43873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предсказанная ковариация ошибки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A5D960A-2CBB-0348-EF1C-9E5ABF828E3C}"/>
                  </a:ext>
                </a:extLst>
              </p:cNvPr>
              <p:cNvSpPr txBox="1"/>
              <p:nvPr/>
            </p:nvSpPr>
            <p:spPr>
              <a:xfrm>
                <a:off x="31719" y="3243162"/>
                <a:ext cx="2495027" cy="5451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−</m:t>
                      </m:r>
                      <m:r>
                        <a:rPr lang="en-US" sz="1800" i="1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𝐻</m:t>
                      </m:r>
                      <m:sSub>
                        <m:sSubPr>
                          <m:ctrlP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𝑘</m:t>
                          </m:r>
                          <m:r>
                            <a:rPr lang="ru-RU" sz="18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ru-RU" sz="1800" dirty="0">
                  <a:effectLst/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A5D960A-2CBB-0348-EF1C-9E5ABF828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19" y="3243162"/>
                <a:ext cx="2495027" cy="5451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BC09E5-833C-2EC0-8A5F-30EB028A0CFF}"/>
                  </a:ext>
                </a:extLst>
              </p:cNvPr>
              <p:cNvSpPr txBox="1"/>
              <p:nvPr/>
            </p:nvSpPr>
            <p:spPr>
              <a:xfrm>
                <a:off x="2149988" y="3380486"/>
                <a:ext cx="374913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 инновация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 данные с </a:t>
                </a:r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GPS</a:t>
                </a:r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)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6BC09E5-833C-2EC0-8A5F-30EB028A0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9988" y="3380486"/>
                <a:ext cx="3749131" cy="369332"/>
              </a:xfrm>
              <a:prstGeom prst="rect">
                <a:avLst/>
              </a:prstGeom>
              <a:blipFill>
                <a:blip r:embed="rId10"/>
                <a:stretch>
                  <a:fillRect l="-1463" t="-10000" b="-26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F89A9A8-3905-8EFA-63FA-467BF04FF3E3}"/>
                  </a:ext>
                </a:extLst>
              </p:cNvPr>
              <p:cNvSpPr txBox="1"/>
              <p:nvPr/>
            </p:nvSpPr>
            <p:spPr>
              <a:xfrm>
                <a:off x="-188111" y="3887142"/>
                <a:ext cx="2583656" cy="5241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450215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r>
                      <a:rPr lang="ru-RU" sz="18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|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𝐻</m:t>
                        </m:r>
                      </m:e>
                      <m:sup>
                        <m:r>
                          <a:rPr lang="ru-RU" sz="18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⊤</m:t>
                        </m:r>
                      </m:sup>
                    </m:sSup>
                    <m:sSubSup>
                      <m:sSubSupPr>
                        <m:ctrlP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𝑘</m:t>
                        </m:r>
                      </m:sub>
                      <m:sup>
                        <m:r>
                          <a:rPr lang="ru-RU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ru-RU" sz="1800" dirty="0">
                    <a:effectLst/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,</a:t>
                </a: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F89A9A8-3905-8EFA-63FA-467BF04FF3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111" y="3887142"/>
                <a:ext cx="2583656" cy="524182"/>
              </a:xfrm>
              <a:prstGeom prst="rect">
                <a:avLst/>
              </a:prstGeom>
              <a:blipFill>
                <a:blip r:embed="rId11"/>
                <a:stretch>
                  <a:fillRect r="-708" b="-1395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0846519-6577-32C3-8EE0-C697A8470C2E}"/>
                  </a:ext>
                </a:extLst>
              </p:cNvPr>
              <p:cNvSpPr txBox="1"/>
              <p:nvPr/>
            </p:nvSpPr>
            <p:spPr>
              <a:xfrm>
                <a:off x="2271957" y="4009147"/>
                <a:ext cx="523688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 коэффициент Калмана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- </a:t>
                </a:r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инновационная </a:t>
                </a:r>
              </a:p>
              <a:p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 ковариация (суммарная ошибка))</a:t>
                </a: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0846519-6577-32C3-8EE0-C697A8470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957" y="4009147"/>
                <a:ext cx="5236887" cy="646331"/>
              </a:xfrm>
              <a:prstGeom prst="rect">
                <a:avLst/>
              </a:prstGeom>
              <a:blipFill>
                <a:blip r:embed="rId12"/>
                <a:stretch>
                  <a:fillRect l="-1048" t="-5660" r="-931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3ADF50-DB4C-069F-C7F3-3E52F6C932BB}"/>
                  </a:ext>
                </a:extLst>
              </p:cNvPr>
              <p:cNvSpPr txBox="1"/>
              <p:nvPr/>
            </p:nvSpPr>
            <p:spPr>
              <a:xfrm>
                <a:off x="8281469" y="3858306"/>
                <a:ext cx="2871787" cy="387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</m:d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</m:oMath>
                  </m:oMathPara>
                </a14:m>
                <a:endParaRPr lang="ru-RU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3ADF50-DB4C-069F-C7F3-3E52F6C93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1469" y="3858306"/>
                <a:ext cx="2871787" cy="387414"/>
              </a:xfrm>
              <a:prstGeom prst="rect">
                <a:avLst/>
              </a:prstGeom>
              <a:blipFill>
                <a:blip r:embed="rId13"/>
                <a:stretch>
                  <a:fillRect t="-49206" b="-130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6D28F2-80A6-D6B0-971A-55D2389D211E}"/>
                  </a:ext>
                </a:extLst>
              </p:cNvPr>
              <p:cNvSpPr txBox="1"/>
              <p:nvPr/>
            </p:nvSpPr>
            <p:spPr>
              <a:xfrm>
                <a:off x="4292665" y="4887169"/>
                <a:ext cx="3149469" cy="38741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ru-RU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A6D28F2-80A6-D6B0-971A-55D2389D21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665" y="4887169"/>
                <a:ext cx="3149469" cy="387414"/>
              </a:xfrm>
              <a:prstGeom prst="rect">
                <a:avLst/>
              </a:prstGeom>
              <a:blipFill>
                <a:blip r:embed="rId14"/>
                <a:stretch>
                  <a:fillRect t="-46154" b="-1246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0A5636C-9927-5ADD-E69E-BB796B8D1A87}"/>
              </a:ext>
            </a:extLst>
          </p:cNvPr>
          <p:cNvSpPr txBox="1"/>
          <p:nvPr/>
        </p:nvSpPr>
        <p:spPr>
          <a:xfrm>
            <a:off x="3519654" y="1510649"/>
            <a:ext cx="309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модель движения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57EBC89-7BED-AAAF-6E14-543A603D2887}"/>
              </a:ext>
            </a:extLst>
          </p:cNvPr>
          <p:cNvSpPr/>
          <p:nvPr/>
        </p:nvSpPr>
        <p:spPr>
          <a:xfrm>
            <a:off x="271787" y="884660"/>
            <a:ext cx="6083293" cy="1125360"/>
          </a:xfrm>
          <a:prstGeom prst="roundRect">
            <a:avLst/>
          </a:prstGeom>
          <a:noFill/>
          <a:ln w="762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617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99E7-DBD1-3BCB-C2C7-CD72C5B27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E023594-F3FD-E63F-F2AE-E870A2ADA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26B2DB-D1CD-4F29-BDC2-7380261303F0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B67679A2-9C6F-5487-D33D-90A7EE06C133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7/14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5757B684-A5B8-F1AB-8674-89DBC2C60CE1}"/>
              </a:ext>
            </a:extLst>
          </p:cNvPr>
          <p:cNvSpPr txBox="1">
            <a:spLocks/>
          </p:cNvSpPr>
          <p:nvPr/>
        </p:nvSpPr>
        <p:spPr>
          <a:xfrm>
            <a:off x="196380" y="200075"/>
            <a:ext cx="11804904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Метод повышения точности классического фильтра Калмана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C65E08-D156-ED48-3608-A143AA0C572D}"/>
              </a:ext>
            </a:extLst>
          </p:cNvPr>
          <p:cNvSpPr txBox="1"/>
          <p:nvPr/>
        </p:nvSpPr>
        <p:spPr>
          <a:xfrm>
            <a:off x="1598231" y="1101295"/>
            <a:ext cx="92868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/>
              <a:t>Идея: использовать метод Савицкого-</a:t>
            </a:r>
            <a:r>
              <a:rPr lang="ru-RU" sz="2400" dirty="0" err="1"/>
              <a:t>Голея</a:t>
            </a:r>
            <a:r>
              <a:rPr lang="ru-RU" sz="2400" dirty="0"/>
              <a:t> для получения более сглаженной траектории движения.</a:t>
            </a:r>
          </a:p>
        </p:txBody>
      </p:sp>
      <p:graphicFrame>
        <p:nvGraphicFramePr>
          <p:cNvPr id="23" name="Таблица 22">
            <a:extLst>
              <a:ext uri="{FF2B5EF4-FFF2-40B4-BE49-F238E27FC236}">
                <a16:creationId xmlns:a16="http://schemas.microsoft.com/office/drawing/2014/main" id="{2D1F917C-00F1-41F4-C718-964A0C659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028878"/>
              </p:ext>
            </p:extLst>
          </p:nvPr>
        </p:nvGraphicFramePr>
        <p:xfrm>
          <a:off x="1674148" y="2437190"/>
          <a:ext cx="5810812" cy="7515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5406">
                  <a:extLst>
                    <a:ext uri="{9D8B030D-6E8A-4147-A177-3AD203B41FA5}">
                      <a16:colId xmlns:a16="http://schemas.microsoft.com/office/drawing/2014/main" val="1222266660"/>
                    </a:ext>
                  </a:extLst>
                </a:gridCol>
                <a:gridCol w="2905406">
                  <a:extLst>
                    <a:ext uri="{9D8B030D-6E8A-4147-A177-3AD203B41FA5}">
                      <a16:colId xmlns:a16="http://schemas.microsoft.com/office/drawing/2014/main" val="992593421"/>
                    </a:ext>
                  </a:extLst>
                </a:gridCol>
              </a:tblGrid>
              <a:tr h="375773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Плюсы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solidFill>
                            <a:schemeClr val="tx1"/>
                          </a:solidFill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Минусы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7397155"/>
                  </a:ext>
                </a:extLst>
              </a:tr>
              <a:tr h="375773">
                <a:tc>
                  <a:txBody>
                    <a:bodyPr/>
                    <a:lstStyle/>
                    <a:p>
                      <a:r>
                        <a:rPr lang="ru-RU" dirty="0"/>
                        <a:t>Более плавная траектория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Сильно падает точность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46779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A4291CC2-5193-0217-9115-2A8F6C86C404}"/>
              </a:ext>
            </a:extLst>
          </p:cNvPr>
          <p:cNvSpPr txBox="1"/>
          <p:nvPr/>
        </p:nvSpPr>
        <p:spPr>
          <a:xfrm>
            <a:off x="883854" y="3596776"/>
            <a:ext cx="73914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Решение: обучить легковесную нейросеть определять коэффициент доверия между: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езультатом классического фильтра Калмана</a:t>
            </a:r>
            <a:endParaRPr lang="ru-RU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Траекторией, сглаженной методом Савицкого-</a:t>
            </a:r>
            <a:r>
              <a:rPr lang="ru-RU" sz="18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Голея</a:t>
            </a:r>
            <a:r>
              <a:rPr lang="ru-RU" sz="18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34A658-C8B1-DAA1-66BF-DD512EE5D063}"/>
                  </a:ext>
                </a:extLst>
              </p:cNvPr>
              <p:cNvSpPr txBox="1"/>
              <p:nvPr/>
            </p:nvSpPr>
            <p:spPr>
              <a:xfrm>
                <a:off x="2917444" y="5205145"/>
                <a:ext cx="3324225" cy="3702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α</m:t>
                          </m:r>
                        </m:e>
                      </m:d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𝐾𝐹</m:t>
                          </m:r>
                        </m:sup>
                      </m:sSup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α</m:t>
                      </m:r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𝑆𝐺</m:t>
                          </m:r>
                        </m:sup>
                      </m:sSup>
                    </m:oMath>
                  </m:oMathPara>
                </a14:m>
                <a:endParaRPr lang="ru-RU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34A658-C8B1-DAA1-66BF-DD512EE5D0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444" y="5205145"/>
                <a:ext cx="3324225" cy="3702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 descr="Предварительный просмотр изображения">
            <a:extLst>
              <a:ext uri="{FF2B5EF4-FFF2-40B4-BE49-F238E27FC236}">
                <a16:creationId xmlns:a16="http://schemas.microsoft.com/office/drawing/2014/main" id="{92AD7C61-5E6E-FDA1-5F6D-4C2A7A079D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194" y="2032786"/>
            <a:ext cx="3102417" cy="3892663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F88A29AE-B665-DA39-3D32-9F88A55ECF27}"/>
              </a:ext>
            </a:extLst>
          </p:cNvPr>
          <p:cNvCxnSpPr>
            <a:cxnSpLocks/>
          </p:cNvCxnSpPr>
          <p:nvPr/>
        </p:nvCxnSpPr>
        <p:spPr>
          <a:xfrm flipV="1">
            <a:off x="8869680" y="2517597"/>
            <a:ext cx="2013140" cy="2962725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31F5F64-DE7B-9C0A-7853-51D278B44CD1}"/>
              </a:ext>
            </a:extLst>
          </p:cNvPr>
          <p:cNvCxnSpPr>
            <a:cxnSpLocks/>
          </p:cNvCxnSpPr>
          <p:nvPr/>
        </p:nvCxnSpPr>
        <p:spPr>
          <a:xfrm flipH="1" flipV="1">
            <a:off x="10844504" y="2517597"/>
            <a:ext cx="347211" cy="225603"/>
          </a:xfrm>
          <a:prstGeom prst="line">
            <a:avLst/>
          </a:prstGeom>
          <a:ln w="5715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190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B85-70C3-1E0B-BBE1-7B97B10E9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A46783E-56D3-33E8-DC11-66D47CBD2BC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0AEB81-BAD2-1A10-2E13-82451207C080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6E3E655-0F3D-8FAA-A572-466674B564CB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8/14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F5266064-8B40-E1FB-906B-BFC2B31F15A3}"/>
              </a:ext>
            </a:extLst>
          </p:cNvPr>
          <p:cNvSpPr/>
          <p:nvPr/>
        </p:nvSpPr>
        <p:spPr>
          <a:xfrm>
            <a:off x="2095500" y="1432933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2DEE6119-001D-F056-42CA-62E74A08C8E8}"/>
              </a:ext>
            </a:extLst>
          </p:cNvPr>
          <p:cNvSpPr/>
          <p:nvPr/>
        </p:nvSpPr>
        <p:spPr>
          <a:xfrm>
            <a:off x="2095500" y="1890133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F555DD2-EE16-22B0-51C7-BF4331D5B41F}"/>
              </a:ext>
            </a:extLst>
          </p:cNvPr>
          <p:cNvSpPr/>
          <p:nvPr/>
        </p:nvSpPr>
        <p:spPr>
          <a:xfrm>
            <a:off x="2095501" y="2411487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F4F2BC5-795B-B99C-6A8D-74EEE3EA0189}"/>
              </a:ext>
            </a:extLst>
          </p:cNvPr>
          <p:cNvSpPr/>
          <p:nvPr/>
        </p:nvSpPr>
        <p:spPr>
          <a:xfrm>
            <a:off x="2095501" y="2868687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57827C21-47F0-3120-8277-E38379189DF8}"/>
              </a:ext>
            </a:extLst>
          </p:cNvPr>
          <p:cNvSpPr/>
          <p:nvPr/>
        </p:nvSpPr>
        <p:spPr>
          <a:xfrm>
            <a:off x="2095499" y="3330370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>
            <a:extLst>
              <a:ext uri="{FF2B5EF4-FFF2-40B4-BE49-F238E27FC236}">
                <a16:creationId xmlns:a16="http://schemas.microsoft.com/office/drawing/2014/main" id="{B0113438-3CCE-AF42-181D-BC8280444530}"/>
              </a:ext>
            </a:extLst>
          </p:cNvPr>
          <p:cNvSpPr/>
          <p:nvPr/>
        </p:nvSpPr>
        <p:spPr>
          <a:xfrm>
            <a:off x="2095499" y="3787570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5752C2F2-A06F-94B7-2385-9B0FBCDA98CB}"/>
              </a:ext>
            </a:extLst>
          </p:cNvPr>
          <p:cNvSpPr/>
          <p:nvPr/>
        </p:nvSpPr>
        <p:spPr>
          <a:xfrm>
            <a:off x="2095500" y="4308924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8EEDA55A-CEF9-71F1-ACDE-00C35F3A0311}"/>
              </a:ext>
            </a:extLst>
          </p:cNvPr>
          <p:cNvSpPr/>
          <p:nvPr/>
        </p:nvSpPr>
        <p:spPr>
          <a:xfrm>
            <a:off x="2095500" y="4766124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2832848B-1A9A-3AEB-B617-D958884259F9}"/>
              </a:ext>
            </a:extLst>
          </p:cNvPr>
          <p:cNvSpPr/>
          <p:nvPr/>
        </p:nvSpPr>
        <p:spPr>
          <a:xfrm>
            <a:off x="3276600" y="2450446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0556572D-C3C9-01B0-D02D-0D5F9D611B47}"/>
              </a:ext>
            </a:extLst>
          </p:cNvPr>
          <p:cNvSpPr/>
          <p:nvPr/>
        </p:nvSpPr>
        <p:spPr>
          <a:xfrm>
            <a:off x="3276600" y="2907646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08F604A-0DB2-A5A2-954B-131266EBB9DE}"/>
              </a:ext>
            </a:extLst>
          </p:cNvPr>
          <p:cNvSpPr/>
          <p:nvPr/>
        </p:nvSpPr>
        <p:spPr>
          <a:xfrm>
            <a:off x="3276601" y="3429000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ECDD093D-26A6-72B7-8943-A70CE4852265}"/>
              </a:ext>
            </a:extLst>
          </p:cNvPr>
          <p:cNvSpPr/>
          <p:nvPr/>
        </p:nvSpPr>
        <p:spPr>
          <a:xfrm>
            <a:off x="3276601" y="3886200"/>
            <a:ext cx="352426" cy="33287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D7030547-B5A2-622D-45FC-FA80C2C58833}"/>
              </a:ext>
            </a:extLst>
          </p:cNvPr>
          <p:cNvSpPr/>
          <p:nvPr/>
        </p:nvSpPr>
        <p:spPr>
          <a:xfrm>
            <a:off x="931065" y="2864026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5C031A2A-D9C3-2886-F1C4-F07E20245C05}"/>
              </a:ext>
            </a:extLst>
          </p:cNvPr>
          <p:cNvSpPr/>
          <p:nvPr/>
        </p:nvSpPr>
        <p:spPr>
          <a:xfrm>
            <a:off x="931065" y="3321226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A40DE7A1-0314-6959-7940-02AE351AD635}"/>
              </a:ext>
            </a:extLst>
          </p:cNvPr>
          <p:cNvSpPr/>
          <p:nvPr/>
        </p:nvSpPr>
        <p:spPr>
          <a:xfrm>
            <a:off x="931066" y="3842580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Овал 30">
            <a:extLst>
              <a:ext uri="{FF2B5EF4-FFF2-40B4-BE49-F238E27FC236}">
                <a16:creationId xmlns:a16="http://schemas.microsoft.com/office/drawing/2014/main" id="{86A9FB1C-81D4-18E4-7ED6-A53C4B0EB6BF}"/>
              </a:ext>
            </a:extLst>
          </p:cNvPr>
          <p:cNvSpPr/>
          <p:nvPr/>
        </p:nvSpPr>
        <p:spPr>
          <a:xfrm>
            <a:off x="931066" y="4299780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23993880-0D47-CD41-E656-03058B725F14}"/>
              </a:ext>
            </a:extLst>
          </p:cNvPr>
          <p:cNvSpPr/>
          <p:nvPr/>
        </p:nvSpPr>
        <p:spPr>
          <a:xfrm>
            <a:off x="4071941" y="3151595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Заголовок 3">
            <a:extLst>
              <a:ext uri="{FF2B5EF4-FFF2-40B4-BE49-F238E27FC236}">
                <a16:creationId xmlns:a16="http://schemas.microsoft.com/office/drawing/2014/main" id="{8B5CF068-23C6-FD61-3AF4-131C03303480}"/>
              </a:ext>
            </a:extLst>
          </p:cNvPr>
          <p:cNvSpPr txBox="1">
            <a:spLocks/>
          </p:cNvSpPr>
          <p:nvPr/>
        </p:nvSpPr>
        <p:spPr>
          <a:xfrm>
            <a:off x="1784734" y="230689"/>
            <a:ext cx="862028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Архитектура нейросети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C5B14A0F-5285-14E4-5BC2-1FF7C2A7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5642" y="1479246"/>
            <a:ext cx="51580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Средняя величина инновации в окне.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Суммарный угол поворота траектории в окне.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Стандартное отклонение инновации.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Средняя скорость движения.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Средняя заявленная точность GPS.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Стандартное отклонение длин шагов траектории Калмана.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70538B-6B38-62B6-9259-CD4EF74C8B87}"/>
              </a:ext>
            </a:extLst>
          </p:cNvPr>
          <p:cNvSpPr txBox="1"/>
          <p:nvPr/>
        </p:nvSpPr>
        <p:spPr>
          <a:xfrm>
            <a:off x="7543680" y="1063759"/>
            <a:ext cx="2761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Входные параметры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A11911-3A63-C9D1-B057-2F54B4D99105}"/>
              </a:ext>
            </a:extLst>
          </p:cNvPr>
          <p:cNvSpPr txBox="1"/>
          <p:nvPr/>
        </p:nvSpPr>
        <p:spPr>
          <a:xfrm>
            <a:off x="7649317" y="3936087"/>
            <a:ext cx="25506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Целевой параметр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5E4EC9-132D-1F8C-FDF1-C4335AA48AB3}"/>
                  </a:ext>
                </a:extLst>
              </p:cNvPr>
              <p:cNvSpPr txBox="1"/>
              <p:nvPr/>
            </p:nvSpPr>
            <p:spPr>
              <a:xfrm>
                <a:off x="6345642" y="4432388"/>
                <a:ext cx="29875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Коэффициент доверия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ru-RU" dirty="0"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5E4EC9-132D-1F8C-FDF1-C4335AA48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5642" y="4432388"/>
                <a:ext cx="2987549" cy="369332"/>
              </a:xfrm>
              <a:prstGeom prst="rect">
                <a:avLst/>
              </a:prstGeom>
              <a:blipFill>
                <a:blip r:embed="rId3"/>
                <a:stretch>
                  <a:fillRect l="-1837" t="-8197" b="-2459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Овал 7">
            <a:extLst>
              <a:ext uri="{FF2B5EF4-FFF2-40B4-BE49-F238E27FC236}">
                <a16:creationId xmlns:a16="http://schemas.microsoft.com/office/drawing/2014/main" id="{A0B19358-0F00-0DF2-C5C5-D3B4CE69D638}"/>
              </a:ext>
            </a:extLst>
          </p:cNvPr>
          <p:cNvSpPr/>
          <p:nvPr/>
        </p:nvSpPr>
        <p:spPr>
          <a:xfrm>
            <a:off x="931065" y="1949626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B742173-9B97-D640-5048-90F0CF0C9A06}"/>
              </a:ext>
            </a:extLst>
          </p:cNvPr>
          <p:cNvSpPr/>
          <p:nvPr/>
        </p:nvSpPr>
        <p:spPr>
          <a:xfrm>
            <a:off x="931065" y="2406826"/>
            <a:ext cx="352426" cy="332873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756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1A26-C9F8-6DF4-5EE1-20B39B7C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4C1F55-5F57-CC97-3859-8FBAC52A23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9F4DBF1-CDCF-D0B3-20AE-99D3B1C2D1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169" y="3786353"/>
            <a:ext cx="4309851" cy="135606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B8EB974-7ED2-E909-E999-734D4BE917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168" y="2347554"/>
            <a:ext cx="4309851" cy="1356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FE9845-465D-916F-2E0A-E29CA42B4238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790574F-EFF2-CC8C-970B-D9F2624B3FEC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9/14</a:t>
            </a:r>
          </a:p>
        </p:txBody>
      </p:sp>
      <p:sp>
        <p:nvSpPr>
          <p:cNvPr id="5" name="Заголовок 3">
            <a:extLst>
              <a:ext uri="{FF2B5EF4-FFF2-40B4-BE49-F238E27FC236}">
                <a16:creationId xmlns:a16="http://schemas.microsoft.com/office/drawing/2014/main" id="{73F99035-A395-C712-C718-5C7D7D19A4E7}"/>
              </a:ext>
            </a:extLst>
          </p:cNvPr>
          <p:cNvSpPr txBox="1">
            <a:spLocks/>
          </p:cNvSpPr>
          <p:nvPr/>
        </p:nvSpPr>
        <p:spPr>
          <a:xfrm>
            <a:off x="1785860" y="247281"/>
            <a:ext cx="862028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Обучение нейросети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47BED71-CD12-CEA9-7D94-16A6DC42B4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84" b="5138"/>
          <a:stretch>
            <a:fillRect/>
          </a:stretch>
        </p:blipFill>
        <p:spPr>
          <a:xfrm>
            <a:off x="3067050" y="1079337"/>
            <a:ext cx="2136708" cy="412890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66F9F0-3ADF-393B-C9DA-37425711E70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90" b="5133"/>
          <a:stretch>
            <a:fillRect/>
          </a:stretch>
        </p:blipFill>
        <p:spPr>
          <a:xfrm>
            <a:off x="594881" y="1079337"/>
            <a:ext cx="2136708" cy="4128903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487CF91B-836D-47F2-FC30-D6C61A2FB9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167" y="920819"/>
            <a:ext cx="4309851" cy="13560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768E53A-1943-D690-9FF7-BD41CB66F675}"/>
              </a:ext>
            </a:extLst>
          </p:cNvPr>
          <p:cNvSpPr txBox="1"/>
          <p:nvPr/>
        </p:nvSpPr>
        <p:spPr>
          <a:xfrm>
            <a:off x="7530989" y="1243899"/>
            <a:ext cx="357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Данные для обучения собираются пользователем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FED7B51-9D2D-0DD0-E120-E8B4EF040A21}"/>
              </a:ext>
            </a:extLst>
          </p:cNvPr>
          <p:cNvSpPr txBox="1"/>
          <p:nvPr/>
        </p:nvSpPr>
        <p:spPr>
          <a:xfrm>
            <a:off x="6599308" y="674512"/>
            <a:ext cx="779381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0" dirty="0">
                <a:solidFill>
                  <a:srgbClr val="5D418D"/>
                </a:solidFill>
                <a:latin typeface="Gotham Pro Black" panose="02000903040000020004" pitchFamily="2" charset="0"/>
                <a:cs typeface="Gotham Pro Black" panose="02000903040000020004" pitchFamily="2" charset="0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D7F18-4FDA-5974-47AC-C398B17AFFF5}"/>
              </a:ext>
            </a:extLst>
          </p:cNvPr>
          <p:cNvSpPr txBox="1"/>
          <p:nvPr/>
        </p:nvSpPr>
        <p:spPr>
          <a:xfrm>
            <a:off x="6682622" y="2123748"/>
            <a:ext cx="1064715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0" dirty="0">
                <a:solidFill>
                  <a:srgbClr val="AE4A84"/>
                </a:solidFill>
                <a:latin typeface="Gotham Pro Black" panose="02000903040000020004" pitchFamily="2" charset="0"/>
                <a:cs typeface="Gotham Pro Black" panose="02000903040000020004" pitchFamily="2" charset="0"/>
              </a:rPr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B12ADD-43A2-C4A6-E910-066D029BBDCF}"/>
              </a:ext>
            </a:extLst>
          </p:cNvPr>
          <p:cNvSpPr txBox="1"/>
          <p:nvPr/>
        </p:nvSpPr>
        <p:spPr>
          <a:xfrm>
            <a:off x="6729516" y="3633214"/>
            <a:ext cx="1059906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0" dirty="0">
                <a:solidFill>
                  <a:srgbClr val="FBBE07"/>
                </a:solidFill>
                <a:latin typeface="Gotham Pro Black" panose="02000903040000020004" pitchFamily="2" charset="0"/>
                <a:cs typeface="Gotham Pro Black" panose="02000903040000020004" pitchFamily="2" charset="0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D05F1E3-22DE-4D3D-6F04-70EAAAC1A3DD}"/>
              </a:ext>
            </a:extLst>
          </p:cNvPr>
          <p:cNvSpPr txBox="1"/>
          <p:nvPr/>
        </p:nvSpPr>
        <p:spPr>
          <a:xfrm>
            <a:off x="7563328" y="2664203"/>
            <a:ext cx="357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Обучение происходит в 80 эпох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AEC8321-9133-3430-0D08-6AA2FFE11417}"/>
              </a:ext>
            </a:extLst>
          </p:cNvPr>
          <p:cNvSpPr txBox="1"/>
          <p:nvPr/>
        </p:nvSpPr>
        <p:spPr>
          <a:xfrm>
            <a:off x="7586775" y="4160966"/>
            <a:ext cx="3577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Веса модели сохраняются в памяти устройства</a:t>
            </a:r>
          </a:p>
        </p:txBody>
      </p:sp>
    </p:spTree>
    <p:extLst>
      <p:ext uri="{BB962C8B-B14F-4D97-AF65-F5344CB8AC3E}">
        <p14:creationId xmlns:p14="http://schemas.microsoft.com/office/powerpoint/2010/main" val="374024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6C594-A8A5-B8CB-DC18-A7027809A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BB1DAC6-72B2-D336-58EE-9FEBB25B190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94C250-9555-34DC-8264-CC48EA44696C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2C243D0-FE03-F0F8-CCC6-D8A09182E133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10/14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B646CCB7-9E1A-136A-CD71-0D5ACD1F7177}"/>
              </a:ext>
            </a:extLst>
          </p:cNvPr>
          <p:cNvSpPr txBox="1">
            <a:spLocks/>
          </p:cNvSpPr>
          <p:nvPr/>
        </p:nvSpPr>
        <p:spPr>
          <a:xfrm>
            <a:off x="1784734" y="247281"/>
            <a:ext cx="862028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Сравнение результатов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E49CBE1-1BD7-4644-5976-45F078B65C1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8"/>
          <a:stretch>
            <a:fillRect/>
          </a:stretch>
        </p:blipFill>
        <p:spPr bwMode="auto">
          <a:xfrm>
            <a:off x="329184" y="949853"/>
            <a:ext cx="3524114" cy="41040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005397D-C97B-45DF-C3BE-A796BF42FB9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8" t="5208" r="14743"/>
          <a:stretch>
            <a:fillRect/>
          </a:stretch>
        </p:blipFill>
        <p:spPr bwMode="auto">
          <a:xfrm>
            <a:off x="4332817" y="949853"/>
            <a:ext cx="3524114" cy="41040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5F4991-5E39-E6DF-1010-5AF1CE4E1513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9"/>
          <a:stretch>
            <a:fillRect/>
          </a:stretch>
        </p:blipFill>
        <p:spPr bwMode="auto">
          <a:xfrm>
            <a:off x="8336450" y="949853"/>
            <a:ext cx="3437820" cy="41040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71350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21EDB-ED9B-FF18-61E7-DA2F0ABCC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ADEB113-7497-184B-0AEF-96B17E8B35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712E91-1071-6F5B-BB51-81BFD20585FE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BF4AC82-6E59-2DB1-47A4-3F3D7749A32D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11/14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D334A2E3-AE23-64CB-D109-6F51C08E97B3}"/>
              </a:ext>
            </a:extLst>
          </p:cNvPr>
          <p:cNvSpPr txBox="1">
            <a:spLocks/>
          </p:cNvSpPr>
          <p:nvPr/>
        </p:nvSpPr>
        <p:spPr>
          <a:xfrm>
            <a:off x="1784734" y="247281"/>
            <a:ext cx="862028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Сравнение результатов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BAE3B8D-B530-5B99-9EE7-625A8A1B0D4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9"/>
          <a:stretch>
            <a:fillRect/>
          </a:stretch>
        </p:blipFill>
        <p:spPr bwMode="auto">
          <a:xfrm>
            <a:off x="999021" y="1376997"/>
            <a:ext cx="3437820" cy="410400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F19EE1-6CD9-641F-FD7A-6E8F6515B5E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7" t="64819" r="33235" b="10337"/>
          <a:stretch>
            <a:fillRect/>
          </a:stretch>
        </p:blipFill>
        <p:spPr bwMode="auto">
          <a:xfrm>
            <a:off x="6094874" y="3530019"/>
            <a:ext cx="4104274" cy="240030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2354614-94EE-98CF-FF7A-17D8A44859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891" t="10872" r="11861" b="69147"/>
          <a:stretch>
            <a:fillRect/>
          </a:stretch>
        </p:blipFill>
        <p:spPr bwMode="auto">
          <a:xfrm>
            <a:off x="7672340" y="984339"/>
            <a:ext cx="3100435" cy="236883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D24118-53D8-ACBE-C5BD-8F79C8461B01}"/>
              </a:ext>
            </a:extLst>
          </p:cNvPr>
          <p:cNvSpPr/>
          <p:nvPr/>
        </p:nvSpPr>
        <p:spPr>
          <a:xfrm>
            <a:off x="3133725" y="1647825"/>
            <a:ext cx="876300" cy="70485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435B608-F50F-3C69-420C-9D4C0536851F}"/>
              </a:ext>
            </a:extLst>
          </p:cNvPr>
          <p:cNvSpPr/>
          <p:nvPr/>
        </p:nvSpPr>
        <p:spPr>
          <a:xfrm>
            <a:off x="1457325" y="4029075"/>
            <a:ext cx="1828800" cy="9906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B1FA2E-667A-AB24-31F1-713D516F763F}"/>
              </a:ext>
            </a:extLst>
          </p:cNvPr>
          <p:cNvSpPr txBox="1"/>
          <p:nvPr/>
        </p:nvSpPr>
        <p:spPr>
          <a:xfrm>
            <a:off x="4054386" y="1811705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B18B8B-3C4E-F77F-3408-66C27259D06C}"/>
              </a:ext>
            </a:extLst>
          </p:cNvPr>
          <p:cNvSpPr txBox="1"/>
          <p:nvPr/>
        </p:nvSpPr>
        <p:spPr>
          <a:xfrm>
            <a:off x="3286125" y="4495801"/>
            <a:ext cx="442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(2)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0BE795-E5FA-7513-0B69-3351665FF2DF}"/>
              </a:ext>
            </a:extLst>
          </p:cNvPr>
          <p:cNvSpPr txBox="1"/>
          <p:nvPr/>
        </p:nvSpPr>
        <p:spPr>
          <a:xfrm>
            <a:off x="6983586" y="1937922"/>
            <a:ext cx="523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(1)</a:t>
            </a:r>
            <a:endParaRPr lang="ru-RU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D84C4-986B-1D3E-F0DF-951B8FC201DE}"/>
              </a:ext>
            </a:extLst>
          </p:cNvPr>
          <p:cNvSpPr txBox="1"/>
          <p:nvPr/>
        </p:nvSpPr>
        <p:spPr>
          <a:xfrm>
            <a:off x="5435862" y="4505325"/>
            <a:ext cx="526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(2)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24213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F85AA-67F9-B9E4-7F2F-A5D8EFB7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5EFC5E6-D6CD-DE8A-A8B7-7B5F992314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8EAFC7-B990-9355-958A-DBA3CEF32A3F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D440A640-B8C4-5B72-2CD7-E5B50D66F938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11/14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46230C76-C8A0-CD28-7250-60664602771D}"/>
              </a:ext>
            </a:extLst>
          </p:cNvPr>
          <p:cNvSpPr txBox="1">
            <a:spLocks/>
          </p:cNvSpPr>
          <p:nvPr/>
        </p:nvSpPr>
        <p:spPr>
          <a:xfrm>
            <a:off x="1784734" y="247281"/>
            <a:ext cx="862028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UI</a:t>
            </a:r>
            <a:endParaRPr lang="ru-RU" sz="2700" b="1" dirty="0">
              <a:solidFill>
                <a:srgbClr val="7030A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CE740B4F-015C-17B6-8AF3-E13CD968EB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11" b="5120"/>
          <a:stretch>
            <a:fillRect/>
          </a:stretch>
        </p:blipFill>
        <p:spPr>
          <a:xfrm>
            <a:off x="7661814" y="159880"/>
            <a:ext cx="2970364" cy="5745605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8D817BA-21AD-DE73-6139-2CA5689622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33" b="6401"/>
          <a:stretch>
            <a:fillRect/>
          </a:stretch>
        </p:blipFill>
        <p:spPr>
          <a:xfrm>
            <a:off x="1557570" y="143351"/>
            <a:ext cx="2972617" cy="56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55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25C0-F33A-8A43-F5BF-48926134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932C458-3078-3A63-7795-7C14315829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16BC73-6769-98E0-758F-0D971F4C4590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94090DF-AED3-3FE5-C38F-DE3323D72315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12/14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8794036F-AF45-C754-A797-D59A6B0CB788}"/>
              </a:ext>
            </a:extLst>
          </p:cNvPr>
          <p:cNvSpPr txBox="1">
            <a:spLocks/>
          </p:cNvSpPr>
          <p:nvPr/>
        </p:nvSpPr>
        <p:spPr>
          <a:xfrm>
            <a:off x="1784734" y="247281"/>
            <a:ext cx="8620280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Перспективы развития библиотеки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AE828-653E-1C5B-B698-3B9125CD137A}"/>
              </a:ext>
            </a:extLst>
          </p:cNvPr>
          <p:cNvSpPr txBox="1"/>
          <p:nvPr/>
        </p:nvSpPr>
        <p:spPr>
          <a:xfrm>
            <a:off x="2206939" y="2274838"/>
            <a:ext cx="77758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Применение в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-разработке в качестве настраиваемого модуля фильтрации GPS/IMU-данных.</a:t>
            </a:r>
          </a:p>
          <a:p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Применение в робототехнических системах для сглаживания шумов сенсорных измерений.</a:t>
            </a:r>
          </a:p>
        </p:txBody>
      </p:sp>
      <p:grpSp>
        <p:nvGrpSpPr>
          <p:cNvPr id="5" name="Group 1008">
            <a:extLst>
              <a:ext uri="{FF2B5EF4-FFF2-40B4-BE49-F238E27FC236}">
                <a16:creationId xmlns:a16="http://schemas.microsoft.com/office/drawing/2014/main" id="{6FE9D1C7-F424-6D66-A34A-426A5E3B1C63}"/>
              </a:ext>
            </a:extLst>
          </p:cNvPr>
          <p:cNvGrpSpPr>
            <a:grpSpLocks/>
          </p:cNvGrpSpPr>
          <p:nvPr/>
        </p:nvGrpSpPr>
        <p:grpSpPr bwMode="auto">
          <a:xfrm>
            <a:off x="10405014" y="2274838"/>
            <a:ext cx="990164" cy="796262"/>
            <a:chOff x="-3982" y="41"/>
            <a:chExt cx="2641" cy="2283"/>
          </a:xfrm>
          <a:solidFill>
            <a:srgbClr val="5D418D"/>
          </a:solidFill>
        </p:grpSpPr>
        <p:sp>
          <p:nvSpPr>
            <p:cNvPr id="8" name="Freeform 1010">
              <a:extLst>
                <a:ext uri="{FF2B5EF4-FFF2-40B4-BE49-F238E27FC236}">
                  <a16:creationId xmlns:a16="http://schemas.microsoft.com/office/drawing/2014/main" id="{09806641-6E63-10F9-A040-D8FA4F2A9B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3982" y="41"/>
              <a:ext cx="2641" cy="2283"/>
            </a:xfrm>
            <a:custGeom>
              <a:avLst/>
              <a:gdLst>
                <a:gd name="T0" fmla="*/ 383 w 5282"/>
                <a:gd name="T1" fmla="*/ 3127 h 4566"/>
                <a:gd name="T2" fmla="*/ 4899 w 5282"/>
                <a:gd name="T3" fmla="*/ 384 h 4566"/>
                <a:gd name="T4" fmla="*/ 257 w 5282"/>
                <a:gd name="T5" fmla="*/ 0 h 4566"/>
                <a:gd name="T6" fmla="*/ 5072 w 5282"/>
                <a:gd name="T7" fmla="*/ 4 h 4566"/>
                <a:gd name="T8" fmla="*/ 5156 w 5282"/>
                <a:gd name="T9" fmla="*/ 36 h 4566"/>
                <a:gd name="T10" fmla="*/ 5221 w 5282"/>
                <a:gd name="T11" fmla="*/ 90 h 4566"/>
                <a:gd name="T12" fmla="*/ 5266 w 5282"/>
                <a:gd name="T13" fmla="*/ 168 h 4566"/>
                <a:gd name="T14" fmla="*/ 5282 w 5282"/>
                <a:gd name="T15" fmla="*/ 256 h 4566"/>
                <a:gd name="T16" fmla="*/ 5278 w 5282"/>
                <a:gd name="T17" fmla="*/ 3300 h 4566"/>
                <a:gd name="T18" fmla="*/ 5247 w 5282"/>
                <a:gd name="T19" fmla="*/ 3384 h 4566"/>
                <a:gd name="T20" fmla="*/ 5191 w 5282"/>
                <a:gd name="T21" fmla="*/ 3451 h 4566"/>
                <a:gd name="T22" fmla="*/ 5116 w 5282"/>
                <a:gd name="T23" fmla="*/ 3494 h 4566"/>
                <a:gd name="T24" fmla="*/ 5026 w 5282"/>
                <a:gd name="T25" fmla="*/ 3511 h 4566"/>
                <a:gd name="T26" fmla="*/ 3243 w 5282"/>
                <a:gd name="T27" fmla="*/ 4092 h 4566"/>
                <a:gd name="T28" fmla="*/ 3985 w 5282"/>
                <a:gd name="T29" fmla="*/ 4097 h 4566"/>
                <a:gd name="T30" fmla="*/ 4068 w 5282"/>
                <a:gd name="T31" fmla="*/ 4132 h 4566"/>
                <a:gd name="T32" fmla="*/ 4133 w 5282"/>
                <a:gd name="T33" fmla="*/ 4196 h 4566"/>
                <a:gd name="T34" fmla="*/ 4168 w 5282"/>
                <a:gd name="T35" fmla="*/ 4280 h 4566"/>
                <a:gd name="T36" fmla="*/ 4168 w 5282"/>
                <a:gd name="T37" fmla="*/ 4376 h 4566"/>
                <a:gd name="T38" fmla="*/ 4133 w 5282"/>
                <a:gd name="T39" fmla="*/ 4462 h 4566"/>
                <a:gd name="T40" fmla="*/ 4068 w 5282"/>
                <a:gd name="T41" fmla="*/ 4524 h 4566"/>
                <a:gd name="T42" fmla="*/ 3985 w 5282"/>
                <a:gd name="T43" fmla="*/ 4561 h 4566"/>
                <a:gd name="T44" fmla="*/ 1345 w 5282"/>
                <a:gd name="T45" fmla="*/ 4566 h 4566"/>
                <a:gd name="T46" fmla="*/ 1254 w 5282"/>
                <a:gd name="T47" fmla="*/ 4547 h 4566"/>
                <a:gd name="T48" fmla="*/ 1179 w 5282"/>
                <a:gd name="T49" fmla="*/ 4495 h 4566"/>
                <a:gd name="T50" fmla="*/ 1127 w 5282"/>
                <a:gd name="T51" fmla="*/ 4421 h 4566"/>
                <a:gd name="T52" fmla="*/ 1110 w 5282"/>
                <a:gd name="T53" fmla="*/ 4328 h 4566"/>
                <a:gd name="T54" fmla="*/ 1127 w 5282"/>
                <a:gd name="T55" fmla="*/ 4237 h 4566"/>
                <a:gd name="T56" fmla="*/ 1179 w 5282"/>
                <a:gd name="T57" fmla="*/ 4161 h 4566"/>
                <a:gd name="T58" fmla="*/ 1254 w 5282"/>
                <a:gd name="T59" fmla="*/ 4110 h 4566"/>
                <a:gd name="T60" fmla="*/ 1345 w 5282"/>
                <a:gd name="T61" fmla="*/ 4092 h 4566"/>
                <a:gd name="T62" fmla="*/ 2040 w 5282"/>
                <a:gd name="T63" fmla="*/ 3511 h 4566"/>
                <a:gd name="T64" fmla="*/ 210 w 5282"/>
                <a:gd name="T65" fmla="*/ 3507 h 4566"/>
                <a:gd name="T66" fmla="*/ 127 w 5282"/>
                <a:gd name="T67" fmla="*/ 3475 h 4566"/>
                <a:gd name="T68" fmla="*/ 61 w 5282"/>
                <a:gd name="T69" fmla="*/ 3419 h 4566"/>
                <a:gd name="T70" fmla="*/ 16 w 5282"/>
                <a:gd name="T71" fmla="*/ 3343 h 4566"/>
                <a:gd name="T72" fmla="*/ 0 w 5282"/>
                <a:gd name="T73" fmla="*/ 3255 h 4566"/>
                <a:gd name="T74" fmla="*/ 5 w 5282"/>
                <a:gd name="T75" fmla="*/ 211 h 4566"/>
                <a:gd name="T76" fmla="*/ 35 w 5282"/>
                <a:gd name="T77" fmla="*/ 127 h 4566"/>
                <a:gd name="T78" fmla="*/ 91 w 5282"/>
                <a:gd name="T79" fmla="*/ 60 h 4566"/>
                <a:gd name="T80" fmla="*/ 167 w 5282"/>
                <a:gd name="T81" fmla="*/ 17 h 4566"/>
                <a:gd name="T82" fmla="*/ 257 w 5282"/>
                <a:gd name="T83" fmla="*/ 0 h 4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5282" h="4566">
                  <a:moveTo>
                    <a:pt x="383" y="384"/>
                  </a:moveTo>
                  <a:lnTo>
                    <a:pt x="383" y="3127"/>
                  </a:lnTo>
                  <a:lnTo>
                    <a:pt x="4899" y="3127"/>
                  </a:lnTo>
                  <a:lnTo>
                    <a:pt x="4899" y="384"/>
                  </a:lnTo>
                  <a:lnTo>
                    <a:pt x="383" y="384"/>
                  </a:lnTo>
                  <a:close/>
                  <a:moveTo>
                    <a:pt x="257" y="0"/>
                  </a:moveTo>
                  <a:lnTo>
                    <a:pt x="5026" y="0"/>
                  </a:lnTo>
                  <a:lnTo>
                    <a:pt x="5072" y="4"/>
                  </a:lnTo>
                  <a:lnTo>
                    <a:pt x="5116" y="17"/>
                  </a:lnTo>
                  <a:lnTo>
                    <a:pt x="5156" y="36"/>
                  </a:lnTo>
                  <a:lnTo>
                    <a:pt x="5191" y="60"/>
                  </a:lnTo>
                  <a:lnTo>
                    <a:pt x="5221" y="90"/>
                  </a:lnTo>
                  <a:lnTo>
                    <a:pt x="5247" y="127"/>
                  </a:lnTo>
                  <a:lnTo>
                    <a:pt x="5266" y="168"/>
                  </a:lnTo>
                  <a:lnTo>
                    <a:pt x="5278" y="211"/>
                  </a:lnTo>
                  <a:lnTo>
                    <a:pt x="5282" y="256"/>
                  </a:lnTo>
                  <a:lnTo>
                    <a:pt x="5282" y="3255"/>
                  </a:lnTo>
                  <a:lnTo>
                    <a:pt x="5278" y="3300"/>
                  </a:lnTo>
                  <a:lnTo>
                    <a:pt x="5266" y="3343"/>
                  </a:lnTo>
                  <a:lnTo>
                    <a:pt x="5247" y="3384"/>
                  </a:lnTo>
                  <a:lnTo>
                    <a:pt x="5221" y="3419"/>
                  </a:lnTo>
                  <a:lnTo>
                    <a:pt x="5191" y="3451"/>
                  </a:lnTo>
                  <a:lnTo>
                    <a:pt x="5156" y="3475"/>
                  </a:lnTo>
                  <a:lnTo>
                    <a:pt x="5116" y="3494"/>
                  </a:lnTo>
                  <a:lnTo>
                    <a:pt x="5072" y="3507"/>
                  </a:lnTo>
                  <a:lnTo>
                    <a:pt x="5026" y="3511"/>
                  </a:lnTo>
                  <a:lnTo>
                    <a:pt x="3243" y="3511"/>
                  </a:lnTo>
                  <a:lnTo>
                    <a:pt x="3243" y="4092"/>
                  </a:lnTo>
                  <a:lnTo>
                    <a:pt x="3937" y="4092"/>
                  </a:lnTo>
                  <a:lnTo>
                    <a:pt x="3985" y="4097"/>
                  </a:lnTo>
                  <a:lnTo>
                    <a:pt x="4028" y="4110"/>
                  </a:lnTo>
                  <a:lnTo>
                    <a:pt x="4068" y="4132"/>
                  </a:lnTo>
                  <a:lnTo>
                    <a:pt x="4104" y="4161"/>
                  </a:lnTo>
                  <a:lnTo>
                    <a:pt x="4133" y="4196"/>
                  </a:lnTo>
                  <a:lnTo>
                    <a:pt x="4155" y="4237"/>
                  </a:lnTo>
                  <a:lnTo>
                    <a:pt x="4168" y="4280"/>
                  </a:lnTo>
                  <a:lnTo>
                    <a:pt x="4173" y="4328"/>
                  </a:lnTo>
                  <a:lnTo>
                    <a:pt x="4168" y="4376"/>
                  </a:lnTo>
                  <a:lnTo>
                    <a:pt x="4155" y="4421"/>
                  </a:lnTo>
                  <a:lnTo>
                    <a:pt x="4133" y="4462"/>
                  </a:lnTo>
                  <a:lnTo>
                    <a:pt x="4104" y="4495"/>
                  </a:lnTo>
                  <a:lnTo>
                    <a:pt x="4068" y="4524"/>
                  </a:lnTo>
                  <a:lnTo>
                    <a:pt x="4028" y="4547"/>
                  </a:lnTo>
                  <a:lnTo>
                    <a:pt x="3985" y="4561"/>
                  </a:lnTo>
                  <a:lnTo>
                    <a:pt x="3937" y="4566"/>
                  </a:lnTo>
                  <a:lnTo>
                    <a:pt x="1345" y="4566"/>
                  </a:lnTo>
                  <a:lnTo>
                    <a:pt x="1297" y="4561"/>
                  </a:lnTo>
                  <a:lnTo>
                    <a:pt x="1254" y="4547"/>
                  </a:lnTo>
                  <a:lnTo>
                    <a:pt x="1214" y="4524"/>
                  </a:lnTo>
                  <a:lnTo>
                    <a:pt x="1179" y="4495"/>
                  </a:lnTo>
                  <a:lnTo>
                    <a:pt x="1150" y="4462"/>
                  </a:lnTo>
                  <a:lnTo>
                    <a:pt x="1127" y="4421"/>
                  </a:lnTo>
                  <a:lnTo>
                    <a:pt x="1115" y="4376"/>
                  </a:lnTo>
                  <a:lnTo>
                    <a:pt x="1110" y="4328"/>
                  </a:lnTo>
                  <a:lnTo>
                    <a:pt x="1115" y="4280"/>
                  </a:lnTo>
                  <a:lnTo>
                    <a:pt x="1127" y="4237"/>
                  </a:lnTo>
                  <a:lnTo>
                    <a:pt x="1150" y="4196"/>
                  </a:lnTo>
                  <a:lnTo>
                    <a:pt x="1179" y="4161"/>
                  </a:lnTo>
                  <a:lnTo>
                    <a:pt x="1214" y="4132"/>
                  </a:lnTo>
                  <a:lnTo>
                    <a:pt x="1254" y="4110"/>
                  </a:lnTo>
                  <a:lnTo>
                    <a:pt x="1297" y="4097"/>
                  </a:lnTo>
                  <a:lnTo>
                    <a:pt x="1345" y="4092"/>
                  </a:lnTo>
                  <a:lnTo>
                    <a:pt x="2040" y="4092"/>
                  </a:lnTo>
                  <a:lnTo>
                    <a:pt x="2040" y="3511"/>
                  </a:lnTo>
                  <a:lnTo>
                    <a:pt x="257" y="3511"/>
                  </a:lnTo>
                  <a:lnTo>
                    <a:pt x="210" y="3507"/>
                  </a:lnTo>
                  <a:lnTo>
                    <a:pt x="167" y="3494"/>
                  </a:lnTo>
                  <a:lnTo>
                    <a:pt x="127" y="3475"/>
                  </a:lnTo>
                  <a:lnTo>
                    <a:pt x="91" y="3451"/>
                  </a:lnTo>
                  <a:lnTo>
                    <a:pt x="61" y="3419"/>
                  </a:lnTo>
                  <a:lnTo>
                    <a:pt x="35" y="3384"/>
                  </a:lnTo>
                  <a:lnTo>
                    <a:pt x="16" y="3343"/>
                  </a:lnTo>
                  <a:lnTo>
                    <a:pt x="5" y="3300"/>
                  </a:lnTo>
                  <a:lnTo>
                    <a:pt x="0" y="3255"/>
                  </a:lnTo>
                  <a:lnTo>
                    <a:pt x="0" y="256"/>
                  </a:lnTo>
                  <a:lnTo>
                    <a:pt x="5" y="211"/>
                  </a:lnTo>
                  <a:lnTo>
                    <a:pt x="16" y="168"/>
                  </a:lnTo>
                  <a:lnTo>
                    <a:pt x="35" y="127"/>
                  </a:lnTo>
                  <a:lnTo>
                    <a:pt x="61" y="90"/>
                  </a:lnTo>
                  <a:lnTo>
                    <a:pt x="91" y="60"/>
                  </a:lnTo>
                  <a:lnTo>
                    <a:pt x="127" y="36"/>
                  </a:lnTo>
                  <a:lnTo>
                    <a:pt x="167" y="17"/>
                  </a:lnTo>
                  <a:lnTo>
                    <a:pt x="210" y="4"/>
                  </a:lnTo>
                  <a:lnTo>
                    <a:pt x="2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1011">
              <a:extLst>
                <a:ext uri="{FF2B5EF4-FFF2-40B4-BE49-F238E27FC236}">
                  <a16:creationId xmlns:a16="http://schemas.microsoft.com/office/drawing/2014/main" id="{8759B1C2-029D-F8A2-2AF4-609CA4141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22" y="648"/>
              <a:ext cx="560" cy="539"/>
            </a:xfrm>
            <a:custGeom>
              <a:avLst/>
              <a:gdLst>
                <a:gd name="T0" fmla="*/ 964 w 1121"/>
                <a:gd name="T1" fmla="*/ 0 h 1078"/>
                <a:gd name="T2" fmla="*/ 993 w 1121"/>
                <a:gd name="T3" fmla="*/ 4 h 1078"/>
                <a:gd name="T4" fmla="*/ 1022 w 1121"/>
                <a:gd name="T5" fmla="*/ 12 h 1078"/>
                <a:gd name="T6" fmla="*/ 1048 w 1121"/>
                <a:gd name="T7" fmla="*/ 26 h 1078"/>
                <a:gd name="T8" fmla="*/ 1073 w 1121"/>
                <a:gd name="T9" fmla="*/ 45 h 1078"/>
                <a:gd name="T10" fmla="*/ 1094 w 1121"/>
                <a:gd name="T11" fmla="*/ 69 h 1078"/>
                <a:gd name="T12" fmla="*/ 1108 w 1121"/>
                <a:gd name="T13" fmla="*/ 97 h 1078"/>
                <a:gd name="T14" fmla="*/ 1118 w 1121"/>
                <a:gd name="T15" fmla="*/ 126 h 1078"/>
                <a:gd name="T16" fmla="*/ 1121 w 1121"/>
                <a:gd name="T17" fmla="*/ 158 h 1078"/>
                <a:gd name="T18" fmla="*/ 1121 w 1121"/>
                <a:gd name="T19" fmla="*/ 161 h 1078"/>
                <a:gd name="T20" fmla="*/ 1116 w 1121"/>
                <a:gd name="T21" fmla="*/ 198 h 1078"/>
                <a:gd name="T22" fmla="*/ 1105 w 1121"/>
                <a:gd name="T23" fmla="*/ 230 h 1078"/>
                <a:gd name="T24" fmla="*/ 1086 w 1121"/>
                <a:gd name="T25" fmla="*/ 261 h 1078"/>
                <a:gd name="T26" fmla="*/ 1060 w 1121"/>
                <a:gd name="T27" fmla="*/ 285 h 1078"/>
                <a:gd name="T28" fmla="*/ 1030 w 1121"/>
                <a:gd name="T29" fmla="*/ 304 h 1078"/>
                <a:gd name="T30" fmla="*/ 525 w 1121"/>
                <a:gd name="T31" fmla="*/ 538 h 1078"/>
                <a:gd name="T32" fmla="*/ 1030 w 1121"/>
                <a:gd name="T33" fmla="*/ 775 h 1078"/>
                <a:gd name="T34" fmla="*/ 1060 w 1121"/>
                <a:gd name="T35" fmla="*/ 792 h 1078"/>
                <a:gd name="T36" fmla="*/ 1086 w 1121"/>
                <a:gd name="T37" fmla="*/ 818 h 1078"/>
                <a:gd name="T38" fmla="*/ 1105 w 1121"/>
                <a:gd name="T39" fmla="*/ 847 h 1078"/>
                <a:gd name="T40" fmla="*/ 1116 w 1121"/>
                <a:gd name="T41" fmla="*/ 881 h 1078"/>
                <a:gd name="T42" fmla="*/ 1121 w 1121"/>
                <a:gd name="T43" fmla="*/ 916 h 1078"/>
                <a:gd name="T44" fmla="*/ 1121 w 1121"/>
                <a:gd name="T45" fmla="*/ 921 h 1078"/>
                <a:gd name="T46" fmla="*/ 1118 w 1121"/>
                <a:gd name="T47" fmla="*/ 953 h 1078"/>
                <a:gd name="T48" fmla="*/ 1108 w 1121"/>
                <a:gd name="T49" fmla="*/ 982 h 1078"/>
                <a:gd name="T50" fmla="*/ 1094 w 1121"/>
                <a:gd name="T51" fmla="*/ 1009 h 1078"/>
                <a:gd name="T52" fmla="*/ 1073 w 1121"/>
                <a:gd name="T53" fmla="*/ 1033 h 1078"/>
                <a:gd name="T54" fmla="*/ 1048 w 1121"/>
                <a:gd name="T55" fmla="*/ 1053 h 1078"/>
                <a:gd name="T56" fmla="*/ 1022 w 1121"/>
                <a:gd name="T57" fmla="*/ 1067 h 1078"/>
                <a:gd name="T58" fmla="*/ 993 w 1121"/>
                <a:gd name="T59" fmla="*/ 1075 h 1078"/>
                <a:gd name="T60" fmla="*/ 964 w 1121"/>
                <a:gd name="T61" fmla="*/ 1078 h 1078"/>
                <a:gd name="T62" fmla="*/ 930 w 1121"/>
                <a:gd name="T63" fmla="*/ 1073 h 1078"/>
                <a:gd name="T64" fmla="*/ 898 w 1121"/>
                <a:gd name="T65" fmla="*/ 1064 h 1078"/>
                <a:gd name="T66" fmla="*/ 90 w 1121"/>
                <a:gd name="T67" fmla="*/ 688 h 1078"/>
                <a:gd name="T68" fmla="*/ 60 w 1121"/>
                <a:gd name="T69" fmla="*/ 669 h 1078"/>
                <a:gd name="T70" fmla="*/ 36 w 1121"/>
                <a:gd name="T71" fmla="*/ 643 h 1078"/>
                <a:gd name="T72" fmla="*/ 16 w 1121"/>
                <a:gd name="T73" fmla="*/ 614 h 1078"/>
                <a:gd name="T74" fmla="*/ 4 w 1121"/>
                <a:gd name="T75" fmla="*/ 580 h 1078"/>
                <a:gd name="T76" fmla="*/ 0 w 1121"/>
                <a:gd name="T77" fmla="*/ 545 h 1078"/>
                <a:gd name="T78" fmla="*/ 0 w 1121"/>
                <a:gd name="T79" fmla="*/ 534 h 1078"/>
                <a:gd name="T80" fmla="*/ 4 w 1121"/>
                <a:gd name="T81" fmla="*/ 498 h 1078"/>
                <a:gd name="T82" fmla="*/ 16 w 1121"/>
                <a:gd name="T83" fmla="*/ 465 h 1078"/>
                <a:gd name="T84" fmla="*/ 36 w 1121"/>
                <a:gd name="T85" fmla="*/ 434 h 1078"/>
                <a:gd name="T86" fmla="*/ 60 w 1121"/>
                <a:gd name="T87" fmla="*/ 410 h 1078"/>
                <a:gd name="T88" fmla="*/ 90 w 1121"/>
                <a:gd name="T89" fmla="*/ 391 h 1078"/>
                <a:gd name="T90" fmla="*/ 898 w 1121"/>
                <a:gd name="T91" fmla="*/ 15 h 1078"/>
                <a:gd name="T92" fmla="*/ 930 w 1121"/>
                <a:gd name="T93" fmla="*/ 5 h 1078"/>
                <a:gd name="T94" fmla="*/ 964 w 1121"/>
                <a:gd name="T95" fmla="*/ 0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21" h="1078">
                  <a:moveTo>
                    <a:pt x="964" y="0"/>
                  </a:moveTo>
                  <a:lnTo>
                    <a:pt x="993" y="4"/>
                  </a:lnTo>
                  <a:lnTo>
                    <a:pt x="1022" y="12"/>
                  </a:lnTo>
                  <a:lnTo>
                    <a:pt x="1048" y="26"/>
                  </a:lnTo>
                  <a:lnTo>
                    <a:pt x="1073" y="45"/>
                  </a:lnTo>
                  <a:lnTo>
                    <a:pt x="1094" y="69"/>
                  </a:lnTo>
                  <a:lnTo>
                    <a:pt x="1108" y="97"/>
                  </a:lnTo>
                  <a:lnTo>
                    <a:pt x="1118" y="126"/>
                  </a:lnTo>
                  <a:lnTo>
                    <a:pt x="1121" y="158"/>
                  </a:lnTo>
                  <a:lnTo>
                    <a:pt x="1121" y="161"/>
                  </a:lnTo>
                  <a:lnTo>
                    <a:pt x="1116" y="198"/>
                  </a:lnTo>
                  <a:lnTo>
                    <a:pt x="1105" y="230"/>
                  </a:lnTo>
                  <a:lnTo>
                    <a:pt x="1086" y="261"/>
                  </a:lnTo>
                  <a:lnTo>
                    <a:pt x="1060" y="285"/>
                  </a:lnTo>
                  <a:lnTo>
                    <a:pt x="1030" y="304"/>
                  </a:lnTo>
                  <a:lnTo>
                    <a:pt x="525" y="538"/>
                  </a:lnTo>
                  <a:lnTo>
                    <a:pt x="1030" y="775"/>
                  </a:lnTo>
                  <a:lnTo>
                    <a:pt x="1060" y="792"/>
                  </a:lnTo>
                  <a:lnTo>
                    <a:pt x="1086" y="818"/>
                  </a:lnTo>
                  <a:lnTo>
                    <a:pt x="1105" y="847"/>
                  </a:lnTo>
                  <a:lnTo>
                    <a:pt x="1116" y="881"/>
                  </a:lnTo>
                  <a:lnTo>
                    <a:pt x="1121" y="916"/>
                  </a:lnTo>
                  <a:lnTo>
                    <a:pt x="1121" y="921"/>
                  </a:lnTo>
                  <a:lnTo>
                    <a:pt x="1118" y="953"/>
                  </a:lnTo>
                  <a:lnTo>
                    <a:pt x="1108" y="982"/>
                  </a:lnTo>
                  <a:lnTo>
                    <a:pt x="1094" y="1009"/>
                  </a:lnTo>
                  <a:lnTo>
                    <a:pt x="1073" y="1033"/>
                  </a:lnTo>
                  <a:lnTo>
                    <a:pt x="1048" y="1053"/>
                  </a:lnTo>
                  <a:lnTo>
                    <a:pt x="1022" y="1067"/>
                  </a:lnTo>
                  <a:lnTo>
                    <a:pt x="993" y="1075"/>
                  </a:lnTo>
                  <a:lnTo>
                    <a:pt x="964" y="1078"/>
                  </a:lnTo>
                  <a:lnTo>
                    <a:pt x="930" y="1073"/>
                  </a:lnTo>
                  <a:lnTo>
                    <a:pt x="898" y="1064"/>
                  </a:lnTo>
                  <a:lnTo>
                    <a:pt x="90" y="688"/>
                  </a:lnTo>
                  <a:lnTo>
                    <a:pt x="60" y="669"/>
                  </a:lnTo>
                  <a:lnTo>
                    <a:pt x="36" y="643"/>
                  </a:lnTo>
                  <a:lnTo>
                    <a:pt x="16" y="614"/>
                  </a:lnTo>
                  <a:lnTo>
                    <a:pt x="4" y="580"/>
                  </a:lnTo>
                  <a:lnTo>
                    <a:pt x="0" y="545"/>
                  </a:lnTo>
                  <a:lnTo>
                    <a:pt x="0" y="534"/>
                  </a:lnTo>
                  <a:lnTo>
                    <a:pt x="4" y="498"/>
                  </a:lnTo>
                  <a:lnTo>
                    <a:pt x="16" y="465"/>
                  </a:lnTo>
                  <a:lnTo>
                    <a:pt x="36" y="434"/>
                  </a:lnTo>
                  <a:lnTo>
                    <a:pt x="60" y="410"/>
                  </a:lnTo>
                  <a:lnTo>
                    <a:pt x="90" y="391"/>
                  </a:lnTo>
                  <a:lnTo>
                    <a:pt x="898" y="15"/>
                  </a:lnTo>
                  <a:lnTo>
                    <a:pt x="930" y="5"/>
                  </a:lnTo>
                  <a:lnTo>
                    <a:pt x="96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12">
              <a:extLst>
                <a:ext uri="{FF2B5EF4-FFF2-40B4-BE49-F238E27FC236}">
                  <a16:creationId xmlns:a16="http://schemas.microsoft.com/office/drawing/2014/main" id="{9C318EE5-DEC1-031B-9AAA-504566CA0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-2873" y="424"/>
              <a:ext cx="423" cy="982"/>
            </a:xfrm>
            <a:custGeom>
              <a:avLst/>
              <a:gdLst>
                <a:gd name="T0" fmla="*/ 686 w 847"/>
                <a:gd name="T1" fmla="*/ 0 h 1963"/>
                <a:gd name="T2" fmla="*/ 691 w 847"/>
                <a:gd name="T3" fmla="*/ 0 h 1963"/>
                <a:gd name="T4" fmla="*/ 728 w 847"/>
                <a:gd name="T5" fmla="*/ 3 h 1963"/>
                <a:gd name="T6" fmla="*/ 762 w 847"/>
                <a:gd name="T7" fmla="*/ 16 h 1963"/>
                <a:gd name="T8" fmla="*/ 792 w 847"/>
                <a:gd name="T9" fmla="*/ 37 h 1963"/>
                <a:gd name="T10" fmla="*/ 818 w 847"/>
                <a:gd name="T11" fmla="*/ 64 h 1963"/>
                <a:gd name="T12" fmla="*/ 835 w 847"/>
                <a:gd name="T13" fmla="*/ 96 h 1963"/>
                <a:gd name="T14" fmla="*/ 845 w 847"/>
                <a:gd name="T15" fmla="*/ 131 h 1963"/>
                <a:gd name="T16" fmla="*/ 847 w 847"/>
                <a:gd name="T17" fmla="*/ 168 h 1963"/>
                <a:gd name="T18" fmla="*/ 840 w 847"/>
                <a:gd name="T19" fmla="*/ 204 h 1963"/>
                <a:gd name="T20" fmla="*/ 309 w 847"/>
                <a:gd name="T21" fmla="*/ 1854 h 1963"/>
                <a:gd name="T22" fmla="*/ 295 w 847"/>
                <a:gd name="T23" fmla="*/ 1884 h 1963"/>
                <a:gd name="T24" fmla="*/ 276 w 847"/>
                <a:gd name="T25" fmla="*/ 1911 h 1963"/>
                <a:gd name="T26" fmla="*/ 252 w 847"/>
                <a:gd name="T27" fmla="*/ 1934 h 1963"/>
                <a:gd name="T28" fmla="*/ 224 w 847"/>
                <a:gd name="T29" fmla="*/ 1950 h 1963"/>
                <a:gd name="T30" fmla="*/ 192 w 847"/>
                <a:gd name="T31" fmla="*/ 1960 h 1963"/>
                <a:gd name="T32" fmla="*/ 160 w 847"/>
                <a:gd name="T33" fmla="*/ 1963 h 1963"/>
                <a:gd name="T34" fmla="*/ 155 w 847"/>
                <a:gd name="T35" fmla="*/ 1963 h 1963"/>
                <a:gd name="T36" fmla="*/ 118 w 847"/>
                <a:gd name="T37" fmla="*/ 1960 h 1963"/>
                <a:gd name="T38" fmla="*/ 85 w 847"/>
                <a:gd name="T39" fmla="*/ 1947 h 1963"/>
                <a:gd name="T40" fmla="*/ 54 w 847"/>
                <a:gd name="T41" fmla="*/ 1926 h 1963"/>
                <a:gd name="T42" fmla="*/ 29 w 847"/>
                <a:gd name="T43" fmla="*/ 1899 h 1963"/>
                <a:gd name="T44" fmla="*/ 11 w 847"/>
                <a:gd name="T45" fmla="*/ 1866 h 1963"/>
                <a:gd name="T46" fmla="*/ 1 w 847"/>
                <a:gd name="T47" fmla="*/ 1831 h 1963"/>
                <a:gd name="T48" fmla="*/ 0 w 847"/>
                <a:gd name="T49" fmla="*/ 1794 h 1963"/>
                <a:gd name="T50" fmla="*/ 6 w 847"/>
                <a:gd name="T51" fmla="*/ 1759 h 1963"/>
                <a:gd name="T52" fmla="*/ 537 w 847"/>
                <a:gd name="T53" fmla="*/ 109 h 1963"/>
                <a:gd name="T54" fmla="*/ 551 w 847"/>
                <a:gd name="T55" fmla="*/ 77 h 1963"/>
                <a:gd name="T56" fmla="*/ 571 w 847"/>
                <a:gd name="T57" fmla="*/ 51 h 1963"/>
                <a:gd name="T58" fmla="*/ 595 w 847"/>
                <a:gd name="T59" fmla="*/ 29 h 1963"/>
                <a:gd name="T60" fmla="*/ 622 w 847"/>
                <a:gd name="T61" fmla="*/ 13 h 1963"/>
                <a:gd name="T62" fmla="*/ 654 w 847"/>
                <a:gd name="T63" fmla="*/ 3 h 1963"/>
                <a:gd name="T64" fmla="*/ 686 w 847"/>
                <a:gd name="T65" fmla="*/ 0 h 1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47" h="1963">
                  <a:moveTo>
                    <a:pt x="686" y="0"/>
                  </a:moveTo>
                  <a:lnTo>
                    <a:pt x="691" y="0"/>
                  </a:lnTo>
                  <a:lnTo>
                    <a:pt x="728" y="3"/>
                  </a:lnTo>
                  <a:lnTo>
                    <a:pt x="762" y="16"/>
                  </a:lnTo>
                  <a:lnTo>
                    <a:pt x="792" y="37"/>
                  </a:lnTo>
                  <a:lnTo>
                    <a:pt x="818" y="64"/>
                  </a:lnTo>
                  <a:lnTo>
                    <a:pt x="835" y="96"/>
                  </a:lnTo>
                  <a:lnTo>
                    <a:pt x="845" y="131"/>
                  </a:lnTo>
                  <a:lnTo>
                    <a:pt x="847" y="168"/>
                  </a:lnTo>
                  <a:lnTo>
                    <a:pt x="840" y="204"/>
                  </a:lnTo>
                  <a:lnTo>
                    <a:pt x="309" y="1854"/>
                  </a:lnTo>
                  <a:lnTo>
                    <a:pt x="295" y="1884"/>
                  </a:lnTo>
                  <a:lnTo>
                    <a:pt x="276" y="1911"/>
                  </a:lnTo>
                  <a:lnTo>
                    <a:pt x="252" y="1934"/>
                  </a:lnTo>
                  <a:lnTo>
                    <a:pt x="224" y="1950"/>
                  </a:lnTo>
                  <a:lnTo>
                    <a:pt x="192" y="1960"/>
                  </a:lnTo>
                  <a:lnTo>
                    <a:pt x="160" y="1963"/>
                  </a:lnTo>
                  <a:lnTo>
                    <a:pt x="155" y="1963"/>
                  </a:lnTo>
                  <a:lnTo>
                    <a:pt x="118" y="1960"/>
                  </a:lnTo>
                  <a:lnTo>
                    <a:pt x="85" y="1947"/>
                  </a:lnTo>
                  <a:lnTo>
                    <a:pt x="54" y="1926"/>
                  </a:lnTo>
                  <a:lnTo>
                    <a:pt x="29" y="1899"/>
                  </a:lnTo>
                  <a:lnTo>
                    <a:pt x="11" y="1866"/>
                  </a:lnTo>
                  <a:lnTo>
                    <a:pt x="1" y="1831"/>
                  </a:lnTo>
                  <a:lnTo>
                    <a:pt x="0" y="1794"/>
                  </a:lnTo>
                  <a:lnTo>
                    <a:pt x="6" y="1759"/>
                  </a:lnTo>
                  <a:lnTo>
                    <a:pt x="537" y="109"/>
                  </a:lnTo>
                  <a:lnTo>
                    <a:pt x="551" y="77"/>
                  </a:lnTo>
                  <a:lnTo>
                    <a:pt x="571" y="51"/>
                  </a:lnTo>
                  <a:lnTo>
                    <a:pt x="595" y="29"/>
                  </a:lnTo>
                  <a:lnTo>
                    <a:pt x="622" y="13"/>
                  </a:lnTo>
                  <a:lnTo>
                    <a:pt x="654" y="3"/>
                  </a:lnTo>
                  <a:lnTo>
                    <a:pt x="68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013">
              <a:extLst>
                <a:ext uri="{FF2B5EF4-FFF2-40B4-BE49-F238E27FC236}">
                  <a16:creationId xmlns:a16="http://schemas.microsoft.com/office/drawing/2014/main" id="{D840E213-1B20-90F6-20FF-2A67FF6DB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-2461" y="648"/>
              <a:ext cx="561" cy="539"/>
            </a:xfrm>
            <a:custGeom>
              <a:avLst/>
              <a:gdLst>
                <a:gd name="T0" fmla="*/ 157 w 1121"/>
                <a:gd name="T1" fmla="*/ 0 h 1078"/>
                <a:gd name="T2" fmla="*/ 191 w 1121"/>
                <a:gd name="T3" fmla="*/ 5 h 1078"/>
                <a:gd name="T4" fmla="*/ 223 w 1121"/>
                <a:gd name="T5" fmla="*/ 15 h 1078"/>
                <a:gd name="T6" fmla="*/ 1031 w 1121"/>
                <a:gd name="T7" fmla="*/ 391 h 1078"/>
                <a:gd name="T8" fmla="*/ 1062 w 1121"/>
                <a:gd name="T9" fmla="*/ 410 h 1078"/>
                <a:gd name="T10" fmla="*/ 1086 w 1121"/>
                <a:gd name="T11" fmla="*/ 434 h 1078"/>
                <a:gd name="T12" fmla="*/ 1105 w 1121"/>
                <a:gd name="T13" fmla="*/ 465 h 1078"/>
                <a:gd name="T14" fmla="*/ 1118 w 1121"/>
                <a:gd name="T15" fmla="*/ 498 h 1078"/>
                <a:gd name="T16" fmla="*/ 1121 w 1121"/>
                <a:gd name="T17" fmla="*/ 534 h 1078"/>
                <a:gd name="T18" fmla="*/ 1121 w 1121"/>
                <a:gd name="T19" fmla="*/ 545 h 1078"/>
                <a:gd name="T20" fmla="*/ 1118 w 1121"/>
                <a:gd name="T21" fmla="*/ 580 h 1078"/>
                <a:gd name="T22" fmla="*/ 1105 w 1121"/>
                <a:gd name="T23" fmla="*/ 614 h 1078"/>
                <a:gd name="T24" fmla="*/ 1086 w 1121"/>
                <a:gd name="T25" fmla="*/ 643 h 1078"/>
                <a:gd name="T26" fmla="*/ 1062 w 1121"/>
                <a:gd name="T27" fmla="*/ 669 h 1078"/>
                <a:gd name="T28" fmla="*/ 1031 w 1121"/>
                <a:gd name="T29" fmla="*/ 688 h 1078"/>
                <a:gd name="T30" fmla="*/ 223 w 1121"/>
                <a:gd name="T31" fmla="*/ 1064 h 1078"/>
                <a:gd name="T32" fmla="*/ 191 w 1121"/>
                <a:gd name="T33" fmla="*/ 1073 h 1078"/>
                <a:gd name="T34" fmla="*/ 157 w 1121"/>
                <a:gd name="T35" fmla="*/ 1078 h 1078"/>
                <a:gd name="T36" fmla="*/ 128 w 1121"/>
                <a:gd name="T37" fmla="*/ 1075 h 1078"/>
                <a:gd name="T38" fmla="*/ 100 w 1121"/>
                <a:gd name="T39" fmla="*/ 1067 h 1078"/>
                <a:gd name="T40" fmla="*/ 74 w 1121"/>
                <a:gd name="T41" fmla="*/ 1053 h 1078"/>
                <a:gd name="T42" fmla="*/ 48 w 1121"/>
                <a:gd name="T43" fmla="*/ 1033 h 1078"/>
                <a:gd name="T44" fmla="*/ 27 w 1121"/>
                <a:gd name="T45" fmla="*/ 1009 h 1078"/>
                <a:gd name="T46" fmla="*/ 13 w 1121"/>
                <a:gd name="T47" fmla="*/ 982 h 1078"/>
                <a:gd name="T48" fmla="*/ 3 w 1121"/>
                <a:gd name="T49" fmla="*/ 953 h 1078"/>
                <a:gd name="T50" fmla="*/ 0 w 1121"/>
                <a:gd name="T51" fmla="*/ 921 h 1078"/>
                <a:gd name="T52" fmla="*/ 0 w 1121"/>
                <a:gd name="T53" fmla="*/ 916 h 1078"/>
                <a:gd name="T54" fmla="*/ 5 w 1121"/>
                <a:gd name="T55" fmla="*/ 881 h 1078"/>
                <a:gd name="T56" fmla="*/ 16 w 1121"/>
                <a:gd name="T57" fmla="*/ 847 h 1078"/>
                <a:gd name="T58" fmla="*/ 35 w 1121"/>
                <a:gd name="T59" fmla="*/ 818 h 1078"/>
                <a:gd name="T60" fmla="*/ 61 w 1121"/>
                <a:gd name="T61" fmla="*/ 792 h 1078"/>
                <a:gd name="T62" fmla="*/ 92 w 1121"/>
                <a:gd name="T63" fmla="*/ 775 h 1078"/>
                <a:gd name="T64" fmla="*/ 597 w 1121"/>
                <a:gd name="T65" fmla="*/ 538 h 1078"/>
                <a:gd name="T66" fmla="*/ 92 w 1121"/>
                <a:gd name="T67" fmla="*/ 304 h 1078"/>
                <a:gd name="T68" fmla="*/ 61 w 1121"/>
                <a:gd name="T69" fmla="*/ 285 h 1078"/>
                <a:gd name="T70" fmla="*/ 35 w 1121"/>
                <a:gd name="T71" fmla="*/ 261 h 1078"/>
                <a:gd name="T72" fmla="*/ 16 w 1121"/>
                <a:gd name="T73" fmla="*/ 230 h 1078"/>
                <a:gd name="T74" fmla="*/ 5 w 1121"/>
                <a:gd name="T75" fmla="*/ 198 h 1078"/>
                <a:gd name="T76" fmla="*/ 0 w 1121"/>
                <a:gd name="T77" fmla="*/ 161 h 1078"/>
                <a:gd name="T78" fmla="*/ 0 w 1121"/>
                <a:gd name="T79" fmla="*/ 158 h 1078"/>
                <a:gd name="T80" fmla="*/ 3 w 1121"/>
                <a:gd name="T81" fmla="*/ 126 h 1078"/>
                <a:gd name="T82" fmla="*/ 13 w 1121"/>
                <a:gd name="T83" fmla="*/ 97 h 1078"/>
                <a:gd name="T84" fmla="*/ 27 w 1121"/>
                <a:gd name="T85" fmla="*/ 69 h 1078"/>
                <a:gd name="T86" fmla="*/ 48 w 1121"/>
                <a:gd name="T87" fmla="*/ 45 h 1078"/>
                <a:gd name="T88" fmla="*/ 74 w 1121"/>
                <a:gd name="T89" fmla="*/ 24 h 1078"/>
                <a:gd name="T90" fmla="*/ 100 w 1121"/>
                <a:gd name="T91" fmla="*/ 12 h 1078"/>
                <a:gd name="T92" fmla="*/ 128 w 1121"/>
                <a:gd name="T93" fmla="*/ 4 h 1078"/>
                <a:gd name="T94" fmla="*/ 157 w 1121"/>
                <a:gd name="T95" fmla="*/ 0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121" h="1078">
                  <a:moveTo>
                    <a:pt x="157" y="0"/>
                  </a:moveTo>
                  <a:lnTo>
                    <a:pt x="191" y="5"/>
                  </a:lnTo>
                  <a:lnTo>
                    <a:pt x="223" y="15"/>
                  </a:lnTo>
                  <a:lnTo>
                    <a:pt x="1031" y="391"/>
                  </a:lnTo>
                  <a:lnTo>
                    <a:pt x="1062" y="410"/>
                  </a:lnTo>
                  <a:lnTo>
                    <a:pt x="1086" y="434"/>
                  </a:lnTo>
                  <a:lnTo>
                    <a:pt x="1105" y="465"/>
                  </a:lnTo>
                  <a:lnTo>
                    <a:pt x="1118" y="498"/>
                  </a:lnTo>
                  <a:lnTo>
                    <a:pt x="1121" y="534"/>
                  </a:lnTo>
                  <a:lnTo>
                    <a:pt x="1121" y="545"/>
                  </a:lnTo>
                  <a:lnTo>
                    <a:pt x="1118" y="580"/>
                  </a:lnTo>
                  <a:lnTo>
                    <a:pt x="1105" y="614"/>
                  </a:lnTo>
                  <a:lnTo>
                    <a:pt x="1086" y="643"/>
                  </a:lnTo>
                  <a:lnTo>
                    <a:pt x="1062" y="669"/>
                  </a:lnTo>
                  <a:lnTo>
                    <a:pt x="1031" y="688"/>
                  </a:lnTo>
                  <a:lnTo>
                    <a:pt x="223" y="1064"/>
                  </a:lnTo>
                  <a:lnTo>
                    <a:pt x="191" y="1073"/>
                  </a:lnTo>
                  <a:lnTo>
                    <a:pt x="157" y="1078"/>
                  </a:lnTo>
                  <a:lnTo>
                    <a:pt x="128" y="1075"/>
                  </a:lnTo>
                  <a:lnTo>
                    <a:pt x="100" y="1067"/>
                  </a:lnTo>
                  <a:lnTo>
                    <a:pt x="74" y="1053"/>
                  </a:lnTo>
                  <a:lnTo>
                    <a:pt x="48" y="1033"/>
                  </a:lnTo>
                  <a:lnTo>
                    <a:pt x="27" y="1009"/>
                  </a:lnTo>
                  <a:lnTo>
                    <a:pt x="13" y="982"/>
                  </a:lnTo>
                  <a:lnTo>
                    <a:pt x="3" y="953"/>
                  </a:lnTo>
                  <a:lnTo>
                    <a:pt x="0" y="921"/>
                  </a:lnTo>
                  <a:lnTo>
                    <a:pt x="0" y="916"/>
                  </a:lnTo>
                  <a:lnTo>
                    <a:pt x="5" y="881"/>
                  </a:lnTo>
                  <a:lnTo>
                    <a:pt x="16" y="847"/>
                  </a:lnTo>
                  <a:lnTo>
                    <a:pt x="35" y="818"/>
                  </a:lnTo>
                  <a:lnTo>
                    <a:pt x="61" y="792"/>
                  </a:lnTo>
                  <a:lnTo>
                    <a:pt x="92" y="775"/>
                  </a:lnTo>
                  <a:lnTo>
                    <a:pt x="597" y="538"/>
                  </a:lnTo>
                  <a:lnTo>
                    <a:pt x="92" y="304"/>
                  </a:lnTo>
                  <a:lnTo>
                    <a:pt x="61" y="285"/>
                  </a:lnTo>
                  <a:lnTo>
                    <a:pt x="35" y="261"/>
                  </a:lnTo>
                  <a:lnTo>
                    <a:pt x="16" y="230"/>
                  </a:lnTo>
                  <a:lnTo>
                    <a:pt x="5" y="198"/>
                  </a:lnTo>
                  <a:lnTo>
                    <a:pt x="0" y="161"/>
                  </a:lnTo>
                  <a:lnTo>
                    <a:pt x="0" y="158"/>
                  </a:lnTo>
                  <a:lnTo>
                    <a:pt x="3" y="126"/>
                  </a:lnTo>
                  <a:lnTo>
                    <a:pt x="13" y="97"/>
                  </a:lnTo>
                  <a:lnTo>
                    <a:pt x="27" y="69"/>
                  </a:lnTo>
                  <a:lnTo>
                    <a:pt x="48" y="45"/>
                  </a:lnTo>
                  <a:lnTo>
                    <a:pt x="74" y="24"/>
                  </a:lnTo>
                  <a:lnTo>
                    <a:pt x="100" y="12"/>
                  </a:lnTo>
                  <a:lnTo>
                    <a:pt x="128" y="4"/>
                  </a:lnTo>
                  <a:lnTo>
                    <a:pt x="1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2" name="Group 898">
            <a:extLst>
              <a:ext uri="{FF2B5EF4-FFF2-40B4-BE49-F238E27FC236}">
                <a16:creationId xmlns:a16="http://schemas.microsoft.com/office/drawing/2014/main" id="{699321DD-9A6F-6786-61A9-60C6945BBCB9}"/>
              </a:ext>
            </a:extLst>
          </p:cNvPr>
          <p:cNvGrpSpPr>
            <a:grpSpLocks/>
          </p:cNvGrpSpPr>
          <p:nvPr/>
        </p:nvGrpSpPr>
        <p:grpSpPr bwMode="auto">
          <a:xfrm>
            <a:off x="1251923" y="3762651"/>
            <a:ext cx="532810" cy="820511"/>
            <a:chOff x="1549" y="475"/>
            <a:chExt cx="589" cy="906"/>
          </a:xfrm>
          <a:solidFill>
            <a:srgbClr val="5D418D"/>
          </a:solidFill>
        </p:grpSpPr>
        <p:sp>
          <p:nvSpPr>
            <p:cNvPr id="13" name="Freeform 900">
              <a:extLst>
                <a:ext uri="{FF2B5EF4-FFF2-40B4-BE49-F238E27FC236}">
                  <a16:creationId xmlns:a16="http://schemas.microsoft.com/office/drawing/2014/main" id="{2608E90D-6A43-1838-008D-EE0468CFBD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475"/>
              <a:ext cx="589" cy="673"/>
            </a:xfrm>
            <a:custGeom>
              <a:avLst/>
              <a:gdLst>
                <a:gd name="T0" fmla="*/ 1426 w 2355"/>
                <a:gd name="T1" fmla="*/ 26 h 2692"/>
                <a:gd name="T2" fmla="*/ 1738 w 2355"/>
                <a:gd name="T3" fmla="*/ 142 h 2692"/>
                <a:gd name="T4" fmla="*/ 2005 w 2355"/>
                <a:gd name="T5" fmla="*/ 340 h 2692"/>
                <a:gd name="T6" fmla="*/ 2197 w 2355"/>
                <a:gd name="T7" fmla="*/ 589 h 2692"/>
                <a:gd name="T8" fmla="*/ 2315 w 2355"/>
                <a:gd name="T9" fmla="*/ 873 h 2692"/>
                <a:gd name="T10" fmla="*/ 2355 w 2355"/>
                <a:gd name="T11" fmla="*/ 1180 h 2692"/>
                <a:gd name="T12" fmla="*/ 2315 w 2355"/>
                <a:gd name="T13" fmla="*/ 1488 h 2692"/>
                <a:gd name="T14" fmla="*/ 2197 w 2355"/>
                <a:gd name="T15" fmla="*/ 1771 h 2692"/>
                <a:gd name="T16" fmla="*/ 2014 w 2355"/>
                <a:gd name="T17" fmla="*/ 2011 h 2692"/>
                <a:gd name="T18" fmla="*/ 1853 w 2355"/>
                <a:gd name="T19" fmla="*/ 2184 h 2692"/>
                <a:gd name="T20" fmla="*/ 1790 w 2355"/>
                <a:gd name="T21" fmla="*/ 2362 h 2692"/>
                <a:gd name="T22" fmla="*/ 1788 w 2355"/>
                <a:gd name="T23" fmla="*/ 2415 h 2692"/>
                <a:gd name="T24" fmla="*/ 1764 w 2355"/>
                <a:gd name="T25" fmla="*/ 2634 h 2692"/>
                <a:gd name="T26" fmla="*/ 1680 w 2355"/>
                <a:gd name="T27" fmla="*/ 2690 h 2692"/>
                <a:gd name="T28" fmla="*/ 1600 w 2355"/>
                <a:gd name="T29" fmla="*/ 2681 h 2692"/>
                <a:gd name="T30" fmla="*/ 1530 w 2355"/>
                <a:gd name="T31" fmla="*/ 2610 h 2692"/>
                <a:gd name="T32" fmla="*/ 1524 w 2355"/>
                <a:gd name="T33" fmla="*/ 2349 h 2692"/>
                <a:gd name="T34" fmla="*/ 1587 w 2355"/>
                <a:gd name="T35" fmla="*/ 2116 h 2692"/>
                <a:gd name="T36" fmla="*/ 1734 w 2355"/>
                <a:gd name="T37" fmla="*/ 1911 h 2692"/>
                <a:gd name="T38" fmla="*/ 1908 w 2355"/>
                <a:gd name="T39" fmla="*/ 1728 h 2692"/>
                <a:gd name="T40" fmla="*/ 2039 w 2355"/>
                <a:gd name="T41" fmla="*/ 1483 h 2692"/>
                <a:gd name="T42" fmla="*/ 2089 w 2355"/>
                <a:gd name="T43" fmla="*/ 1215 h 2692"/>
                <a:gd name="T44" fmla="*/ 2060 w 2355"/>
                <a:gd name="T45" fmla="*/ 945 h 2692"/>
                <a:gd name="T46" fmla="*/ 1950 w 2355"/>
                <a:gd name="T47" fmla="*/ 692 h 2692"/>
                <a:gd name="T48" fmla="*/ 1762 w 2355"/>
                <a:gd name="T49" fmla="*/ 479 h 2692"/>
                <a:gd name="T50" fmla="*/ 1522 w 2355"/>
                <a:gd name="T51" fmla="*/ 335 h 2692"/>
                <a:gd name="T52" fmla="*/ 1249 w 2355"/>
                <a:gd name="T53" fmla="*/ 270 h 2692"/>
                <a:gd name="T54" fmla="*/ 968 w 2355"/>
                <a:gd name="T55" fmla="*/ 292 h 2692"/>
                <a:gd name="T56" fmla="*/ 709 w 2355"/>
                <a:gd name="T57" fmla="*/ 397 h 2692"/>
                <a:gd name="T58" fmla="*/ 493 w 2355"/>
                <a:gd name="T59" fmla="*/ 578 h 2692"/>
                <a:gd name="T60" fmla="*/ 341 w 2355"/>
                <a:gd name="T61" fmla="*/ 816 h 2692"/>
                <a:gd name="T62" fmla="*/ 271 w 2355"/>
                <a:gd name="T63" fmla="*/ 1080 h 2692"/>
                <a:gd name="T64" fmla="*/ 282 w 2355"/>
                <a:gd name="T65" fmla="*/ 1352 h 2692"/>
                <a:gd name="T66" fmla="*/ 373 w 2355"/>
                <a:gd name="T67" fmla="*/ 1611 h 2692"/>
                <a:gd name="T68" fmla="*/ 532 w 2355"/>
                <a:gd name="T69" fmla="*/ 1825 h 2692"/>
                <a:gd name="T70" fmla="*/ 709 w 2355"/>
                <a:gd name="T71" fmla="*/ 2013 h 2692"/>
                <a:gd name="T72" fmla="*/ 814 w 2355"/>
                <a:gd name="T73" fmla="*/ 2234 h 2692"/>
                <a:gd name="T74" fmla="*/ 837 w 2355"/>
                <a:gd name="T75" fmla="*/ 2420 h 2692"/>
                <a:gd name="T76" fmla="*/ 812 w 2355"/>
                <a:gd name="T77" fmla="*/ 2633 h 2692"/>
                <a:gd name="T78" fmla="*/ 728 w 2355"/>
                <a:gd name="T79" fmla="*/ 2688 h 2692"/>
                <a:gd name="T80" fmla="*/ 649 w 2355"/>
                <a:gd name="T81" fmla="*/ 2680 h 2692"/>
                <a:gd name="T82" fmla="*/ 578 w 2355"/>
                <a:gd name="T83" fmla="*/ 2607 h 2692"/>
                <a:gd name="T84" fmla="*/ 567 w 2355"/>
                <a:gd name="T85" fmla="*/ 2366 h 2692"/>
                <a:gd name="T86" fmla="*/ 504 w 2355"/>
                <a:gd name="T87" fmla="*/ 2186 h 2692"/>
                <a:gd name="T88" fmla="*/ 343 w 2355"/>
                <a:gd name="T89" fmla="*/ 2013 h 2692"/>
                <a:gd name="T90" fmla="*/ 158 w 2355"/>
                <a:gd name="T91" fmla="*/ 1774 h 2692"/>
                <a:gd name="T92" fmla="*/ 41 w 2355"/>
                <a:gd name="T93" fmla="*/ 1490 h 2692"/>
                <a:gd name="T94" fmla="*/ 0 w 2355"/>
                <a:gd name="T95" fmla="*/ 1182 h 2692"/>
                <a:gd name="T96" fmla="*/ 40 w 2355"/>
                <a:gd name="T97" fmla="*/ 874 h 2692"/>
                <a:gd name="T98" fmla="*/ 156 w 2355"/>
                <a:gd name="T99" fmla="*/ 590 h 2692"/>
                <a:gd name="T100" fmla="*/ 350 w 2355"/>
                <a:gd name="T101" fmla="*/ 340 h 2692"/>
                <a:gd name="T102" fmla="*/ 617 w 2355"/>
                <a:gd name="T103" fmla="*/ 142 h 2692"/>
                <a:gd name="T104" fmla="*/ 927 w 2355"/>
                <a:gd name="T105" fmla="*/ 26 h 2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355" h="2692">
                  <a:moveTo>
                    <a:pt x="1177" y="0"/>
                  </a:moveTo>
                  <a:lnTo>
                    <a:pt x="1261" y="3"/>
                  </a:lnTo>
                  <a:lnTo>
                    <a:pt x="1345" y="12"/>
                  </a:lnTo>
                  <a:lnTo>
                    <a:pt x="1426" y="26"/>
                  </a:lnTo>
                  <a:lnTo>
                    <a:pt x="1508" y="47"/>
                  </a:lnTo>
                  <a:lnTo>
                    <a:pt x="1586" y="74"/>
                  </a:lnTo>
                  <a:lnTo>
                    <a:pt x="1663" y="105"/>
                  </a:lnTo>
                  <a:lnTo>
                    <a:pt x="1738" y="142"/>
                  </a:lnTo>
                  <a:lnTo>
                    <a:pt x="1809" y="184"/>
                  </a:lnTo>
                  <a:lnTo>
                    <a:pt x="1877" y="231"/>
                  </a:lnTo>
                  <a:lnTo>
                    <a:pt x="1943" y="283"/>
                  </a:lnTo>
                  <a:lnTo>
                    <a:pt x="2005" y="340"/>
                  </a:lnTo>
                  <a:lnTo>
                    <a:pt x="2063" y="401"/>
                  </a:lnTo>
                  <a:lnTo>
                    <a:pt x="2113" y="461"/>
                  </a:lnTo>
                  <a:lnTo>
                    <a:pt x="2158" y="524"/>
                  </a:lnTo>
                  <a:lnTo>
                    <a:pt x="2197" y="589"/>
                  </a:lnTo>
                  <a:lnTo>
                    <a:pt x="2234" y="657"/>
                  </a:lnTo>
                  <a:lnTo>
                    <a:pt x="2265" y="726"/>
                  </a:lnTo>
                  <a:lnTo>
                    <a:pt x="2292" y="799"/>
                  </a:lnTo>
                  <a:lnTo>
                    <a:pt x="2315" y="873"/>
                  </a:lnTo>
                  <a:lnTo>
                    <a:pt x="2333" y="948"/>
                  </a:lnTo>
                  <a:lnTo>
                    <a:pt x="2345" y="1025"/>
                  </a:lnTo>
                  <a:lnTo>
                    <a:pt x="2352" y="1102"/>
                  </a:lnTo>
                  <a:lnTo>
                    <a:pt x="2355" y="1180"/>
                  </a:lnTo>
                  <a:lnTo>
                    <a:pt x="2352" y="1258"/>
                  </a:lnTo>
                  <a:lnTo>
                    <a:pt x="2345" y="1336"/>
                  </a:lnTo>
                  <a:lnTo>
                    <a:pt x="2333" y="1413"/>
                  </a:lnTo>
                  <a:lnTo>
                    <a:pt x="2315" y="1488"/>
                  </a:lnTo>
                  <a:lnTo>
                    <a:pt x="2292" y="1562"/>
                  </a:lnTo>
                  <a:lnTo>
                    <a:pt x="2265" y="1633"/>
                  </a:lnTo>
                  <a:lnTo>
                    <a:pt x="2234" y="1704"/>
                  </a:lnTo>
                  <a:lnTo>
                    <a:pt x="2197" y="1771"/>
                  </a:lnTo>
                  <a:lnTo>
                    <a:pt x="2158" y="1837"/>
                  </a:lnTo>
                  <a:lnTo>
                    <a:pt x="2113" y="1900"/>
                  </a:lnTo>
                  <a:lnTo>
                    <a:pt x="2063" y="1959"/>
                  </a:lnTo>
                  <a:lnTo>
                    <a:pt x="2014" y="2011"/>
                  </a:lnTo>
                  <a:lnTo>
                    <a:pt x="1962" y="2060"/>
                  </a:lnTo>
                  <a:lnTo>
                    <a:pt x="1919" y="2101"/>
                  </a:lnTo>
                  <a:lnTo>
                    <a:pt x="1884" y="2142"/>
                  </a:lnTo>
                  <a:lnTo>
                    <a:pt x="1853" y="2184"/>
                  </a:lnTo>
                  <a:lnTo>
                    <a:pt x="1830" y="2225"/>
                  </a:lnTo>
                  <a:lnTo>
                    <a:pt x="1811" y="2268"/>
                  </a:lnTo>
                  <a:lnTo>
                    <a:pt x="1798" y="2313"/>
                  </a:lnTo>
                  <a:lnTo>
                    <a:pt x="1790" y="2362"/>
                  </a:lnTo>
                  <a:lnTo>
                    <a:pt x="1788" y="2411"/>
                  </a:lnTo>
                  <a:lnTo>
                    <a:pt x="1788" y="2413"/>
                  </a:lnTo>
                  <a:lnTo>
                    <a:pt x="1788" y="2414"/>
                  </a:lnTo>
                  <a:lnTo>
                    <a:pt x="1788" y="2415"/>
                  </a:lnTo>
                  <a:lnTo>
                    <a:pt x="1787" y="2560"/>
                  </a:lnTo>
                  <a:lnTo>
                    <a:pt x="1784" y="2586"/>
                  </a:lnTo>
                  <a:lnTo>
                    <a:pt x="1776" y="2612"/>
                  </a:lnTo>
                  <a:lnTo>
                    <a:pt x="1764" y="2634"/>
                  </a:lnTo>
                  <a:lnTo>
                    <a:pt x="1747" y="2654"/>
                  </a:lnTo>
                  <a:lnTo>
                    <a:pt x="1728" y="2670"/>
                  </a:lnTo>
                  <a:lnTo>
                    <a:pt x="1705" y="2682"/>
                  </a:lnTo>
                  <a:lnTo>
                    <a:pt x="1680" y="2690"/>
                  </a:lnTo>
                  <a:lnTo>
                    <a:pt x="1654" y="2692"/>
                  </a:lnTo>
                  <a:lnTo>
                    <a:pt x="1652" y="2692"/>
                  </a:lnTo>
                  <a:lnTo>
                    <a:pt x="1625" y="2689"/>
                  </a:lnTo>
                  <a:lnTo>
                    <a:pt x="1600" y="2681"/>
                  </a:lnTo>
                  <a:lnTo>
                    <a:pt x="1578" y="2669"/>
                  </a:lnTo>
                  <a:lnTo>
                    <a:pt x="1558" y="2652"/>
                  </a:lnTo>
                  <a:lnTo>
                    <a:pt x="1542" y="2632"/>
                  </a:lnTo>
                  <a:lnTo>
                    <a:pt x="1530" y="2610"/>
                  </a:lnTo>
                  <a:lnTo>
                    <a:pt x="1523" y="2584"/>
                  </a:lnTo>
                  <a:lnTo>
                    <a:pt x="1520" y="2557"/>
                  </a:lnTo>
                  <a:lnTo>
                    <a:pt x="1522" y="2411"/>
                  </a:lnTo>
                  <a:lnTo>
                    <a:pt x="1524" y="2349"/>
                  </a:lnTo>
                  <a:lnTo>
                    <a:pt x="1532" y="2287"/>
                  </a:lnTo>
                  <a:lnTo>
                    <a:pt x="1545" y="2229"/>
                  </a:lnTo>
                  <a:lnTo>
                    <a:pt x="1563" y="2171"/>
                  </a:lnTo>
                  <a:lnTo>
                    <a:pt x="1587" y="2116"/>
                  </a:lnTo>
                  <a:lnTo>
                    <a:pt x="1615" y="2063"/>
                  </a:lnTo>
                  <a:lnTo>
                    <a:pt x="1650" y="2011"/>
                  </a:lnTo>
                  <a:lnTo>
                    <a:pt x="1689" y="1960"/>
                  </a:lnTo>
                  <a:lnTo>
                    <a:pt x="1734" y="1911"/>
                  </a:lnTo>
                  <a:lnTo>
                    <a:pt x="1785" y="1862"/>
                  </a:lnTo>
                  <a:lnTo>
                    <a:pt x="1824" y="1824"/>
                  </a:lnTo>
                  <a:lnTo>
                    <a:pt x="1863" y="1783"/>
                  </a:lnTo>
                  <a:lnTo>
                    <a:pt x="1908" y="1728"/>
                  </a:lnTo>
                  <a:lnTo>
                    <a:pt x="1949" y="1670"/>
                  </a:lnTo>
                  <a:lnTo>
                    <a:pt x="1984" y="1609"/>
                  </a:lnTo>
                  <a:lnTo>
                    <a:pt x="2015" y="1546"/>
                  </a:lnTo>
                  <a:lnTo>
                    <a:pt x="2039" y="1483"/>
                  </a:lnTo>
                  <a:lnTo>
                    <a:pt x="2060" y="1416"/>
                  </a:lnTo>
                  <a:lnTo>
                    <a:pt x="2075" y="1350"/>
                  </a:lnTo>
                  <a:lnTo>
                    <a:pt x="2085" y="1283"/>
                  </a:lnTo>
                  <a:lnTo>
                    <a:pt x="2089" y="1215"/>
                  </a:lnTo>
                  <a:lnTo>
                    <a:pt x="2089" y="1147"/>
                  </a:lnTo>
                  <a:lnTo>
                    <a:pt x="2085" y="1080"/>
                  </a:lnTo>
                  <a:lnTo>
                    <a:pt x="2075" y="1011"/>
                  </a:lnTo>
                  <a:lnTo>
                    <a:pt x="2060" y="945"/>
                  </a:lnTo>
                  <a:lnTo>
                    <a:pt x="2040" y="879"/>
                  </a:lnTo>
                  <a:lnTo>
                    <a:pt x="2015" y="816"/>
                  </a:lnTo>
                  <a:lnTo>
                    <a:pt x="1985" y="753"/>
                  </a:lnTo>
                  <a:lnTo>
                    <a:pt x="1950" y="692"/>
                  </a:lnTo>
                  <a:lnTo>
                    <a:pt x="1909" y="634"/>
                  </a:lnTo>
                  <a:lnTo>
                    <a:pt x="1864" y="578"/>
                  </a:lnTo>
                  <a:lnTo>
                    <a:pt x="1815" y="526"/>
                  </a:lnTo>
                  <a:lnTo>
                    <a:pt x="1762" y="479"/>
                  </a:lnTo>
                  <a:lnTo>
                    <a:pt x="1706" y="436"/>
                  </a:lnTo>
                  <a:lnTo>
                    <a:pt x="1647" y="397"/>
                  </a:lnTo>
                  <a:lnTo>
                    <a:pt x="1586" y="363"/>
                  </a:lnTo>
                  <a:lnTo>
                    <a:pt x="1522" y="335"/>
                  </a:lnTo>
                  <a:lnTo>
                    <a:pt x="1456" y="310"/>
                  </a:lnTo>
                  <a:lnTo>
                    <a:pt x="1389" y="292"/>
                  </a:lnTo>
                  <a:lnTo>
                    <a:pt x="1320" y="278"/>
                  </a:lnTo>
                  <a:lnTo>
                    <a:pt x="1249" y="270"/>
                  </a:lnTo>
                  <a:lnTo>
                    <a:pt x="1178" y="266"/>
                  </a:lnTo>
                  <a:lnTo>
                    <a:pt x="1107" y="270"/>
                  </a:lnTo>
                  <a:lnTo>
                    <a:pt x="1037" y="278"/>
                  </a:lnTo>
                  <a:lnTo>
                    <a:pt x="968" y="292"/>
                  </a:lnTo>
                  <a:lnTo>
                    <a:pt x="901" y="310"/>
                  </a:lnTo>
                  <a:lnTo>
                    <a:pt x="835" y="335"/>
                  </a:lnTo>
                  <a:lnTo>
                    <a:pt x="771" y="363"/>
                  </a:lnTo>
                  <a:lnTo>
                    <a:pt x="709" y="397"/>
                  </a:lnTo>
                  <a:lnTo>
                    <a:pt x="650" y="436"/>
                  </a:lnTo>
                  <a:lnTo>
                    <a:pt x="594" y="479"/>
                  </a:lnTo>
                  <a:lnTo>
                    <a:pt x="541" y="526"/>
                  </a:lnTo>
                  <a:lnTo>
                    <a:pt x="493" y="578"/>
                  </a:lnTo>
                  <a:lnTo>
                    <a:pt x="446" y="634"/>
                  </a:lnTo>
                  <a:lnTo>
                    <a:pt x="407" y="692"/>
                  </a:lnTo>
                  <a:lnTo>
                    <a:pt x="371" y="753"/>
                  </a:lnTo>
                  <a:lnTo>
                    <a:pt x="341" y="816"/>
                  </a:lnTo>
                  <a:lnTo>
                    <a:pt x="316" y="880"/>
                  </a:lnTo>
                  <a:lnTo>
                    <a:pt x="296" y="945"/>
                  </a:lnTo>
                  <a:lnTo>
                    <a:pt x="280" y="1013"/>
                  </a:lnTo>
                  <a:lnTo>
                    <a:pt x="271" y="1080"/>
                  </a:lnTo>
                  <a:lnTo>
                    <a:pt x="265" y="1148"/>
                  </a:lnTo>
                  <a:lnTo>
                    <a:pt x="266" y="1216"/>
                  </a:lnTo>
                  <a:lnTo>
                    <a:pt x="271" y="1284"/>
                  </a:lnTo>
                  <a:lnTo>
                    <a:pt x="282" y="1352"/>
                  </a:lnTo>
                  <a:lnTo>
                    <a:pt x="296" y="1419"/>
                  </a:lnTo>
                  <a:lnTo>
                    <a:pt x="317" y="1484"/>
                  </a:lnTo>
                  <a:lnTo>
                    <a:pt x="342" y="1549"/>
                  </a:lnTo>
                  <a:lnTo>
                    <a:pt x="373" y="1611"/>
                  </a:lnTo>
                  <a:lnTo>
                    <a:pt x="408" y="1672"/>
                  </a:lnTo>
                  <a:lnTo>
                    <a:pt x="449" y="1730"/>
                  </a:lnTo>
                  <a:lnTo>
                    <a:pt x="495" y="1785"/>
                  </a:lnTo>
                  <a:lnTo>
                    <a:pt x="532" y="1825"/>
                  </a:lnTo>
                  <a:lnTo>
                    <a:pt x="572" y="1862"/>
                  </a:lnTo>
                  <a:lnTo>
                    <a:pt x="622" y="1912"/>
                  </a:lnTo>
                  <a:lnTo>
                    <a:pt x="669" y="1962"/>
                  </a:lnTo>
                  <a:lnTo>
                    <a:pt x="709" y="2013"/>
                  </a:lnTo>
                  <a:lnTo>
                    <a:pt x="743" y="2066"/>
                  </a:lnTo>
                  <a:lnTo>
                    <a:pt x="772" y="2120"/>
                  </a:lnTo>
                  <a:lnTo>
                    <a:pt x="796" y="2176"/>
                  </a:lnTo>
                  <a:lnTo>
                    <a:pt x="814" y="2234"/>
                  </a:lnTo>
                  <a:lnTo>
                    <a:pt x="827" y="2294"/>
                  </a:lnTo>
                  <a:lnTo>
                    <a:pt x="835" y="2355"/>
                  </a:lnTo>
                  <a:lnTo>
                    <a:pt x="837" y="2419"/>
                  </a:lnTo>
                  <a:lnTo>
                    <a:pt x="837" y="2420"/>
                  </a:lnTo>
                  <a:lnTo>
                    <a:pt x="835" y="2559"/>
                  </a:lnTo>
                  <a:lnTo>
                    <a:pt x="832" y="2585"/>
                  </a:lnTo>
                  <a:lnTo>
                    <a:pt x="824" y="2611"/>
                  </a:lnTo>
                  <a:lnTo>
                    <a:pt x="812" y="2633"/>
                  </a:lnTo>
                  <a:lnTo>
                    <a:pt x="795" y="2652"/>
                  </a:lnTo>
                  <a:lnTo>
                    <a:pt x="776" y="2668"/>
                  </a:lnTo>
                  <a:lnTo>
                    <a:pt x="753" y="2680"/>
                  </a:lnTo>
                  <a:lnTo>
                    <a:pt x="728" y="2688"/>
                  </a:lnTo>
                  <a:lnTo>
                    <a:pt x="702" y="2691"/>
                  </a:lnTo>
                  <a:lnTo>
                    <a:pt x="701" y="2691"/>
                  </a:lnTo>
                  <a:lnTo>
                    <a:pt x="673" y="2688"/>
                  </a:lnTo>
                  <a:lnTo>
                    <a:pt x="649" y="2680"/>
                  </a:lnTo>
                  <a:lnTo>
                    <a:pt x="626" y="2667"/>
                  </a:lnTo>
                  <a:lnTo>
                    <a:pt x="607" y="2650"/>
                  </a:lnTo>
                  <a:lnTo>
                    <a:pt x="591" y="2630"/>
                  </a:lnTo>
                  <a:lnTo>
                    <a:pt x="578" y="2607"/>
                  </a:lnTo>
                  <a:lnTo>
                    <a:pt x="571" y="2583"/>
                  </a:lnTo>
                  <a:lnTo>
                    <a:pt x="569" y="2556"/>
                  </a:lnTo>
                  <a:lnTo>
                    <a:pt x="570" y="2417"/>
                  </a:lnTo>
                  <a:lnTo>
                    <a:pt x="567" y="2366"/>
                  </a:lnTo>
                  <a:lnTo>
                    <a:pt x="560" y="2318"/>
                  </a:lnTo>
                  <a:lnTo>
                    <a:pt x="547" y="2273"/>
                  </a:lnTo>
                  <a:lnTo>
                    <a:pt x="528" y="2229"/>
                  </a:lnTo>
                  <a:lnTo>
                    <a:pt x="504" y="2186"/>
                  </a:lnTo>
                  <a:lnTo>
                    <a:pt x="473" y="2144"/>
                  </a:lnTo>
                  <a:lnTo>
                    <a:pt x="437" y="2102"/>
                  </a:lnTo>
                  <a:lnTo>
                    <a:pt x="394" y="2061"/>
                  </a:lnTo>
                  <a:lnTo>
                    <a:pt x="343" y="2013"/>
                  </a:lnTo>
                  <a:lnTo>
                    <a:pt x="295" y="1962"/>
                  </a:lnTo>
                  <a:lnTo>
                    <a:pt x="245" y="1902"/>
                  </a:lnTo>
                  <a:lnTo>
                    <a:pt x="199" y="1839"/>
                  </a:lnTo>
                  <a:lnTo>
                    <a:pt x="158" y="1774"/>
                  </a:lnTo>
                  <a:lnTo>
                    <a:pt x="122" y="1706"/>
                  </a:lnTo>
                  <a:lnTo>
                    <a:pt x="90" y="1637"/>
                  </a:lnTo>
                  <a:lnTo>
                    <a:pt x="63" y="1564"/>
                  </a:lnTo>
                  <a:lnTo>
                    <a:pt x="41" y="1490"/>
                  </a:lnTo>
                  <a:lnTo>
                    <a:pt x="23" y="1415"/>
                  </a:lnTo>
                  <a:lnTo>
                    <a:pt x="10" y="1338"/>
                  </a:lnTo>
                  <a:lnTo>
                    <a:pt x="2" y="1261"/>
                  </a:lnTo>
                  <a:lnTo>
                    <a:pt x="0" y="1182"/>
                  </a:lnTo>
                  <a:lnTo>
                    <a:pt x="2" y="1104"/>
                  </a:lnTo>
                  <a:lnTo>
                    <a:pt x="10" y="1026"/>
                  </a:lnTo>
                  <a:lnTo>
                    <a:pt x="22" y="950"/>
                  </a:lnTo>
                  <a:lnTo>
                    <a:pt x="40" y="874"/>
                  </a:lnTo>
                  <a:lnTo>
                    <a:pt x="62" y="800"/>
                  </a:lnTo>
                  <a:lnTo>
                    <a:pt x="88" y="728"/>
                  </a:lnTo>
                  <a:lnTo>
                    <a:pt x="120" y="658"/>
                  </a:lnTo>
                  <a:lnTo>
                    <a:pt x="156" y="590"/>
                  </a:lnTo>
                  <a:lnTo>
                    <a:pt x="197" y="524"/>
                  </a:lnTo>
                  <a:lnTo>
                    <a:pt x="242" y="461"/>
                  </a:lnTo>
                  <a:lnTo>
                    <a:pt x="291" y="402"/>
                  </a:lnTo>
                  <a:lnTo>
                    <a:pt x="350" y="340"/>
                  </a:lnTo>
                  <a:lnTo>
                    <a:pt x="411" y="283"/>
                  </a:lnTo>
                  <a:lnTo>
                    <a:pt x="477" y="231"/>
                  </a:lnTo>
                  <a:lnTo>
                    <a:pt x="545" y="184"/>
                  </a:lnTo>
                  <a:lnTo>
                    <a:pt x="617" y="142"/>
                  </a:lnTo>
                  <a:lnTo>
                    <a:pt x="692" y="105"/>
                  </a:lnTo>
                  <a:lnTo>
                    <a:pt x="769" y="74"/>
                  </a:lnTo>
                  <a:lnTo>
                    <a:pt x="847" y="47"/>
                  </a:lnTo>
                  <a:lnTo>
                    <a:pt x="927" y="26"/>
                  </a:lnTo>
                  <a:lnTo>
                    <a:pt x="1010" y="12"/>
                  </a:lnTo>
                  <a:lnTo>
                    <a:pt x="1093" y="3"/>
                  </a:lnTo>
                  <a:lnTo>
                    <a:pt x="11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4" name="Freeform 901">
              <a:extLst>
                <a:ext uri="{FF2B5EF4-FFF2-40B4-BE49-F238E27FC236}">
                  <a16:creationId xmlns:a16="http://schemas.microsoft.com/office/drawing/2014/main" id="{EA46837B-CB69-C6D8-D092-C88006FDB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1" y="1203"/>
              <a:ext cx="304" cy="67"/>
            </a:xfrm>
            <a:custGeom>
              <a:avLst/>
              <a:gdLst>
                <a:gd name="T0" fmla="*/ 133 w 1217"/>
                <a:gd name="T1" fmla="*/ 0 h 268"/>
                <a:gd name="T2" fmla="*/ 1084 w 1217"/>
                <a:gd name="T3" fmla="*/ 0 h 268"/>
                <a:gd name="T4" fmla="*/ 1110 w 1217"/>
                <a:gd name="T5" fmla="*/ 4 h 268"/>
                <a:gd name="T6" fmla="*/ 1136 w 1217"/>
                <a:gd name="T7" fmla="*/ 11 h 268"/>
                <a:gd name="T8" fmla="*/ 1158 w 1217"/>
                <a:gd name="T9" fmla="*/ 23 h 268"/>
                <a:gd name="T10" fmla="*/ 1177 w 1217"/>
                <a:gd name="T11" fmla="*/ 40 h 268"/>
                <a:gd name="T12" fmla="*/ 1194 w 1217"/>
                <a:gd name="T13" fmla="*/ 60 h 268"/>
                <a:gd name="T14" fmla="*/ 1207 w 1217"/>
                <a:gd name="T15" fmla="*/ 83 h 268"/>
                <a:gd name="T16" fmla="*/ 1215 w 1217"/>
                <a:gd name="T17" fmla="*/ 107 h 268"/>
                <a:gd name="T18" fmla="*/ 1217 w 1217"/>
                <a:gd name="T19" fmla="*/ 135 h 268"/>
                <a:gd name="T20" fmla="*/ 1215 w 1217"/>
                <a:gd name="T21" fmla="*/ 161 h 268"/>
                <a:gd name="T22" fmla="*/ 1207 w 1217"/>
                <a:gd name="T23" fmla="*/ 186 h 268"/>
                <a:gd name="T24" fmla="*/ 1195 w 1217"/>
                <a:gd name="T25" fmla="*/ 209 h 268"/>
                <a:gd name="T26" fmla="*/ 1178 w 1217"/>
                <a:gd name="T27" fmla="*/ 229 h 268"/>
                <a:gd name="T28" fmla="*/ 1159 w 1217"/>
                <a:gd name="T29" fmla="*/ 245 h 268"/>
                <a:gd name="T30" fmla="*/ 1136 w 1217"/>
                <a:gd name="T31" fmla="*/ 257 h 268"/>
                <a:gd name="T32" fmla="*/ 1111 w 1217"/>
                <a:gd name="T33" fmla="*/ 264 h 268"/>
                <a:gd name="T34" fmla="*/ 1085 w 1217"/>
                <a:gd name="T35" fmla="*/ 268 h 268"/>
                <a:gd name="T36" fmla="*/ 133 w 1217"/>
                <a:gd name="T37" fmla="*/ 268 h 268"/>
                <a:gd name="T38" fmla="*/ 106 w 1217"/>
                <a:gd name="T39" fmla="*/ 264 h 268"/>
                <a:gd name="T40" fmla="*/ 81 w 1217"/>
                <a:gd name="T41" fmla="*/ 257 h 268"/>
                <a:gd name="T42" fmla="*/ 58 w 1217"/>
                <a:gd name="T43" fmla="*/ 245 h 268"/>
                <a:gd name="T44" fmla="*/ 39 w 1217"/>
                <a:gd name="T45" fmla="*/ 228 h 268"/>
                <a:gd name="T46" fmla="*/ 23 w 1217"/>
                <a:gd name="T47" fmla="*/ 208 h 268"/>
                <a:gd name="T48" fmla="*/ 9 w 1217"/>
                <a:gd name="T49" fmla="*/ 186 h 268"/>
                <a:gd name="T50" fmla="*/ 2 w 1217"/>
                <a:gd name="T51" fmla="*/ 161 h 268"/>
                <a:gd name="T52" fmla="*/ 0 w 1217"/>
                <a:gd name="T53" fmla="*/ 135 h 268"/>
                <a:gd name="T54" fmla="*/ 2 w 1217"/>
                <a:gd name="T55" fmla="*/ 107 h 268"/>
                <a:gd name="T56" fmla="*/ 9 w 1217"/>
                <a:gd name="T57" fmla="*/ 83 h 268"/>
                <a:gd name="T58" fmla="*/ 23 w 1217"/>
                <a:gd name="T59" fmla="*/ 60 h 268"/>
                <a:gd name="T60" fmla="*/ 39 w 1217"/>
                <a:gd name="T61" fmla="*/ 40 h 268"/>
                <a:gd name="T62" fmla="*/ 58 w 1217"/>
                <a:gd name="T63" fmla="*/ 23 h 268"/>
                <a:gd name="T64" fmla="*/ 81 w 1217"/>
                <a:gd name="T65" fmla="*/ 11 h 268"/>
                <a:gd name="T66" fmla="*/ 106 w 1217"/>
                <a:gd name="T67" fmla="*/ 4 h 268"/>
                <a:gd name="T68" fmla="*/ 133 w 1217"/>
                <a:gd name="T69" fmla="*/ 0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217" h="268">
                  <a:moveTo>
                    <a:pt x="133" y="0"/>
                  </a:moveTo>
                  <a:lnTo>
                    <a:pt x="1084" y="0"/>
                  </a:lnTo>
                  <a:lnTo>
                    <a:pt x="1110" y="4"/>
                  </a:lnTo>
                  <a:lnTo>
                    <a:pt x="1136" y="11"/>
                  </a:lnTo>
                  <a:lnTo>
                    <a:pt x="1158" y="23"/>
                  </a:lnTo>
                  <a:lnTo>
                    <a:pt x="1177" y="40"/>
                  </a:lnTo>
                  <a:lnTo>
                    <a:pt x="1194" y="60"/>
                  </a:lnTo>
                  <a:lnTo>
                    <a:pt x="1207" y="83"/>
                  </a:lnTo>
                  <a:lnTo>
                    <a:pt x="1215" y="107"/>
                  </a:lnTo>
                  <a:lnTo>
                    <a:pt x="1217" y="135"/>
                  </a:lnTo>
                  <a:lnTo>
                    <a:pt x="1215" y="161"/>
                  </a:lnTo>
                  <a:lnTo>
                    <a:pt x="1207" y="186"/>
                  </a:lnTo>
                  <a:lnTo>
                    <a:pt x="1195" y="209"/>
                  </a:lnTo>
                  <a:lnTo>
                    <a:pt x="1178" y="229"/>
                  </a:lnTo>
                  <a:lnTo>
                    <a:pt x="1159" y="245"/>
                  </a:lnTo>
                  <a:lnTo>
                    <a:pt x="1136" y="257"/>
                  </a:lnTo>
                  <a:lnTo>
                    <a:pt x="1111" y="264"/>
                  </a:lnTo>
                  <a:lnTo>
                    <a:pt x="1085" y="268"/>
                  </a:lnTo>
                  <a:lnTo>
                    <a:pt x="133" y="268"/>
                  </a:lnTo>
                  <a:lnTo>
                    <a:pt x="106" y="264"/>
                  </a:lnTo>
                  <a:lnTo>
                    <a:pt x="81" y="257"/>
                  </a:lnTo>
                  <a:lnTo>
                    <a:pt x="58" y="245"/>
                  </a:lnTo>
                  <a:lnTo>
                    <a:pt x="39" y="228"/>
                  </a:lnTo>
                  <a:lnTo>
                    <a:pt x="23" y="208"/>
                  </a:lnTo>
                  <a:lnTo>
                    <a:pt x="9" y="186"/>
                  </a:lnTo>
                  <a:lnTo>
                    <a:pt x="2" y="161"/>
                  </a:lnTo>
                  <a:lnTo>
                    <a:pt x="0" y="135"/>
                  </a:lnTo>
                  <a:lnTo>
                    <a:pt x="2" y="107"/>
                  </a:lnTo>
                  <a:lnTo>
                    <a:pt x="9" y="83"/>
                  </a:lnTo>
                  <a:lnTo>
                    <a:pt x="23" y="60"/>
                  </a:lnTo>
                  <a:lnTo>
                    <a:pt x="39" y="40"/>
                  </a:lnTo>
                  <a:lnTo>
                    <a:pt x="58" y="23"/>
                  </a:lnTo>
                  <a:lnTo>
                    <a:pt x="81" y="11"/>
                  </a:lnTo>
                  <a:lnTo>
                    <a:pt x="106" y="4"/>
                  </a:lnTo>
                  <a:lnTo>
                    <a:pt x="1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Freeform 902">
              <a:extLst>
                <a:ext uri="{FF2B5EF4-FFF2-40B4-BE49-F238E27FC236}">
                  <a16:creationId xmlns:a16="http://schemas.microsoft.com/office/drawing/2014/main" id="{CD7514AE-F565-E1FF-E6D0-5F16F855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6" y="1314"/>
              <a:ext cx="195" cy="67"/>
            </a:xfrm>
            <a:custGeom>
              <a:avLst/>
              <a:gdLst>
                <a:gd name="T0" fmla="*/ 133 w 780"/>
                <a:gd name="T1" fmla="*/ 0 h 267"/>
                <a:gd name="T2" fmla="*/ 646 w 780"/>
                <a:gd name="T3" fmla="*/ 0 h 267"/>
                <a:gd name="T4" fmla="*/ 673 w 780"/>
                <a:gd name="T5" fmla="*/ 3 h 267"/>
                <a:gd name="T6" fmla="*/ 699 w 780"/>
                <a:gd name="T7" fmla="*/ 11 h 267"/>
                <a:gd name="T8" fmla="*/ 721 w 780"/>
                <a:gd name="T9" fmla="*/ 23 h 267"/>
                <a:gd name="T10" fmla="*/ 741 w 780"/>
                <a:gd name="T11" fmla="*/ 39 h 267"/>
                <a:gd name="T12" fmla="*/ 757 w 780"/>
                <a:gd name="T13" fmla="*/ 59 h 267"/>
                <a:gd name="T14" fmla="*/ 769 w 780"/>
                <a:gd name="T15" fmla="*/ 81 h 267"/>
                <a:gd name="T16" fmla="*/ 777 w 780"/>
                <a:gd name="T17" fmla="*/ 106 h 267"/>
                <a:gd name="T18" fmla="*/ 780 w 780"/>
                <a:gd name="T19" fmla="*/ 133 h 267"/>
                <a:gd name="T20" fmla="*/ 777 w 780"/>
                <a:gd name="T21" fmla="*/ 160 h 267"/>
                <a:gd name="T22" fmla="*/ 769 w 780"/>
                <a:gd name="T23" fmla="*/ 185 h 267"/>
                <a:gd name="T24" fmla="*/ 757 w 780"/>
                <a:gd name="T25" fmla="*/ 208 h 267"/>
                <a:gd name="T26" fmla="*/ 741 w 780"/>
                <a:gd name="T27" fmla="*/ 227 h 267"/>
                <a:gd name="T28" fmla="*/ 721 w 780"/>
                <a:gd name="T29" fmla="*/ 244 h 267"/>
                <a:gd name="T30" fmla="*/ 699 w 780"/>
                <a:gd name="T31" fmla="*/ 256 h 267"/>
                <a:gd name="T32" fmla="*/ 673 w 780"/>
                <a:gd name="T33" fmla="*/ 264 h 267"/>
                <a:gd name="T34" fmla="*/ 646 w 780"/>
                <a:gd name="T35" fmla="*/ 267 h 267"/>
                <a:gd name="T36" fmla="*/ 133 w 780"/>
                <a:gd name="T37" fmla="*/ 267 h 267"/>
                <a:gd name="T38" fmla="*/ 106 w 780"/>
                <a:gd name="T39" fmla="*/ 264 h 267"/>
                <a:gd name="T40" fmla="*/ 82 w 780"/>
                <a:gd name="T41" fmla="*/ 256 h 267"/>
                <a:gd name="T42" fmla="*/ 59 w 780"/>
                <a:gd name="T43" fmla="*/ 244 h 267"/>
                <a:gd name="T44" fmla="*/ 39 w 780"/>
                <a:gd name="T45" fmla="*/ 227 h 267"/>
                <a:gd name="T46" fmla="*/ 22 w 780"/>
                <a:gd name="T47" fmla="*/ 208 h 267"/>
                <a:gd name="T48" fmla="*/ 10 w 780"/>
                <a:gd name="T49" fmla="*/ 185 h 267"/>
                <a:gd name="T50" fmla="*/ 3 w 780"/>
                <a:gd name="T51" fmla="*/ 160 h 267"/>
                <a:gd name="T52" fmla="*/ 0 w 780"/>
                <a:gd name="T53" fmla="*/ 133 h 267"/>
                <a:gd name="T54" fmla="*/ 3 w 780"/>
                <a:gd name="T55" fmla="*/ 106 h 267"/>
                <a:gd name="T56" fmla="*/ 10 w 780"/>
                <a:gd name="T57" fmla="*/ 81 h 267"/>
                <a:gd name="T58" fmla="*/ 22 w 780"/>
                <a:gd name="T59" fmla="*/ 59 h 267"/>
                <a:gd name="T60" fmla="*/ 39 w 780"/>
                <a:gd name="T61" fmla="*/ 39 h 267"/>
                <a:gd name="T62" fmla="*/ 59 w 780"/>
                <a:gd name="T63" fmla="*/ 23 h 267"/>
                <a:gd name="T64" fmla="*/ 82 w 780"/>
                <a:gd name="T65" fmla="*/ 11 h 267"/>
                <a:gd name="T66" fmla="*/ 106 w 780"/>
                <a:gd name="T67" fmla="*/ 3 h 267"/>
                <a:gd name="T68" fmla="*/ 133 w 780"/>
                <a:gd name="T69" fmla="*/ 0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80" h="267">
                  <a:moveTo>
                    <a:pt x="133" y="0"/>
                  </a:moveTo>
                  <a:lnTo>
                    <a:pt x="646" y="0"/>
                  </a:lnTo>
                  <a:lnTo>
                    <a:pt x="673" y="3"/>
                  </a:lnTo>
                  <a:lnTo>
                    <a:pt x="699" y="11"/>
                  </a:lnTo>
                  <a:lnTo>
                    <a:pt x="721" y="23"/>
                  </a:lnTo>
                  <a:lnTo>
                    <a:pt x="741" y="39"/>
                  </a:lnTo>
                  <a:lnTo>
                    <a:pt x="757" y="59"/>
                  </a:lnTo>
                  <a:lnTo>
                    <a:pt x="769" y="81"/>
                  </a:lnTo>
                  <a:lnTo>
                    <a:pt x="777" y="106"/>
                  </a:lnTo>
                  <a:lnTo>
                    <a:pt x="780" y="133"/>
                  </a:lnTo>
                  <a:lnTo>
                    <a:pt x="777" y="160"/>
                  </a:lnTo>
                  <a:lnTo>
                    <a:pt x="769" y="185"/>
                  </a:lnTo>
                  <a:lnTo>
                    <a:pt x="757" y="208"/>
                  </a:lnTo>
                  <a:lnTo>
                    <a:pt x="741" y="227"/>
                  </a:lnTo>
                  <a:lnTo>
                    <a:pt x="721" y="244"/>
                  </a:lnTo>
                  <a:lnTo>
                    <a:pt x="699" y="256"/>
                  </a:lnTo>
                  <a:lnTo>
                    <a:pt x="673" y="264"/>
                  </a:lnTo>
                  <a:lnTo>
                    <a:pt x="646" y="267"/>
                  </a:lnTo>
                  <a:lnTo>
                    <a:pt x="133" y="267"/>
                  </a:lnTo>
                  <a:lnTo>
                    <a:pt x="106" y="264"/>
                  </a:lnTo>
                  <a:lnTo>
                    <a:pt x="82" y="256"/>
                  </a:lnTo>
                  <a:lnTo>
                    <a:pt x="59" y="244"/>
                  </a:lnTo>
                  <a:lnTo>
                    <a:pt x="39" y="227"/>
                  </a:lnTo>
                  <a:lnTo>
                    <a:pt x="22" y="208"/>
                  </a:lnTo>
                  <a:lnTo>
                    <a:pt x="10" y="185"/>
                  </a:lnTo>
                  <a:lnTo>
                    <a:pt x="3" y="160"/>
                  </a:lnTo>
                  <a:lnTo>
                    <a:pt x="0" y="133"/>
                  </a:lnTo>
                  <a:lnTo>
                    <a:pt x="3" y="106"/>
                  </a:lnTo>
                  <a:lnTo>
                    <a:pt x="10" y="81"/>
                  </a:lnTo>
                  <a:lnTo>
                    <a:pt x="22" y="59"/>
                  </a:lnTo>
                  <a:lnTo>
                    <a:pt x="39" y="39"/>
                  </a:lnTo>
                  <a:lnTo>
                    <a:pt x="59" y="23"/>
                  </a:lnTo>
                  <a:lnTo>
                    <a:pt x="82" y="11"/>
                  </a:lnTo>
                  <a:lnTo>
                    <a:pt x="106" y="3"/>
                  </a:lnTo>
                  <a:lnTo>
                    <a:pt x="13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 903">
              <a:extLst>
                <a:ext uri="{FF2B5EF4-FFF2-40B4-BE49-F238E27FC236}">
                  <a16:creationId xmlns:a16="http://schemas.microsoft.com/office/drawing/2014/main" id="{9EBF6690-BC99-7FCA-C300-79E883BC1B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8" y="764"/>
              <a:ext cx="159" cy="384"/>
            </a:xfrm>
            <a:custGeom>
              <a:avLst/>
              <a:gdLst>
                <a:gd name="T0" fmla="*/ 134 w 636"/>
                <a:gd name="T1" fmla="*/ 0 h 1533"/>
                <a:gd name="T2" fmla="*/ 160 w 636"/>
                <a:gd name="T3" fmla="*/ 2 h 1533"/>
                <a:gd name="T4" fmla="*/ 184 w 636"/>
                <a:gd name="T5" fmla="*/ 9 h 1533"/>
                <a:gd name="T6" fmla="*/ 207 w 636"/>
                <a:gd name="T7" fmla="*/ 22 h 1533"/>
                <a:gd name="T8" fmla="*/ 228 w 636"/>
                <a:gd name="T9" fmla="*/ 38 h 1533"/>
                <a:gd name="T10" fmla="*/ 596 w 636"/>
                <a:gd name="T11" fmla="*/ 407 h 1533"/>
                <a:gd name="T12" fmla="*/ 608 w 636"/>
                <a:gd name="T13" fmla="*/ 421 h 1533"/>
                <a:gd name="T14" fmla="*/ 619 w 636"/>
                <a:gd name="T15" fmla="*/ 439 h 1533"/>
                <a:gd name="T16" fmla="*/ 628 w 636"/>
                <a:gd name="T17" fmla="*/ 460 h 1533"/>
                <a:gd name="T18" fmla="*/ 634 w 636"/>
                <a:gd name="T19" fmla="*/ 484 h 1533"/>
                <a:gd name="T20" fmla="*/ 636 w 636"/>
                <a:gd name="T21" fmla="*/ 512 h 1533"/>
                <a:gd name="T22" fmla="*/ 636 w 636"/>
                <a:gd name="T23" fmla="*/ 1399 h 1533"/>
                <a:gd name="T24" fmla="*/ 633 w 636"/>
                <a:gd name="T25" fmla="*/ 1426 h 1533"/>
                <a:gd name="T26" fmla="*/ 625 w 636"/>
                <a:gd name="T27" fmla="*/ 1452 h 1533"/>
                <a:gd name="T28" fmla="*/ 613 w 636"/>
                <a:gd name="T29" fmla="*/ 1474 h 1533"/>
                <a:gd name="T30" fmla="*/ 596 w 636"/>
                <a:gd name="T31" fmla="*/ 1493 h 1533"/>
                <a:gd name="T32" fmla="*/ 576 w 636"/>
                <a:gd name="T33" fmla="*/ 1510 h 1533"/>
                <a:gd name="T34" fmla="*/ 554 w 636"/>
                <a:gd name="T35" fmla="*/ 1522 h 1533"/>
                <a:gd name="T36" fmla="*/ 529 w 636"/>
                <a:gd name="T37" fmla="*/ 1530 h 1533"/>
                <a:gd name="T38" fmla="*/ 502 w 636"/>
                <a:gd name="T39" fmla="*/ 1533 h 1533"/>
                <a:gd name="T40" fmla="*/ 475 w 636"/>
                <a:gd name="T41" fmla="*/ 1530 h 1533"/>
                <a:gd name="T42" fmla="*/ 450 w 636"/>
                <a:gd name="T43" fmla="*/ 1522 h 1533"/>
                <a:gd name="T44" fmla="*/ 428 w 636"/>
                <a:gd name="T45" fmla="*/ 1510 h 1533"/>
                <a:gd name="T46" fmla="*/ 408 w 636"/>
                <a:gd name="T47" fmla="*/ 1493 h 1533"/>
                <a:gd name="T48" fmla="*/ 392 w 636"/>
                <a:gd name="T49" fmla="*/ 1474 h 1533"/>
                <a:gd name="T50" fmla="*/ 380 w 636"/>
                <a:gd name="T51" fmla="*/ 1452 h 1533"/>
                <a:gd name="T52" fmla="*/ 372 w 636"/>
                <a:gd name="T53" fmla="*/ 1426 h 1533"/>
                <a:gd name="T54" fmla="*/ 369 w 636"/>
                <a:gd name="T55" fmla="*/ 1399 h 1533"/>
                <a:gd name="T56" fmla="*/ 369 w 636"/>
                <a:gd name="T57" fmla="*/ 557 h 1533"/>
                <a:gd name="T58" fmla="*/ 40 w 636"/>
                <a:gd name="T59" fmla="*/ 228 h 1533"/>
                <a:gd name="T60" fmla="*/ 22 w 636"/>
                <a:gd name="T61" fmla="*/ 207 h 1533"/>
                <a:gd name="T62" fmla="*/ 10 w 636"/>
                <a:gd name="T63" fmla="*/ 183 h 1533"/>
                <a:gd name="T64" fmla="*/ 2 w 636"/>
                <a:gd name="T65" fmla="*/ 158 h 1533"/>
                <a:gd name="T66" fmla="*/ 0 w 636"/>
                <a:gd name="T67" fmla="*/ 133 h 1533"/>
                <a:gd name="T68" fmla="*/ 2 w 636"/>
                <a:gd name="T69" fmla="*/ 107 h 1533"/>
                <a:gd name="T70" fmla="*/ 10 w 636"/>
                <a:gd name="T71" fmla="*/ 82 h 1533"/>
                <a:gd name="T72" fmla="*/ 22 w 636"/>
                <a:gd name="T73" fmla="*/ 59 h 1533"/>
                <a:gd name="T74" fmla="*/ 40 w 636"/>
                <a:gd name="T75" fmla="*/ 38 h 1533"/>
                <a:gd name="T76" fmla="*/ 61 w 636"/>
                <a:gd name="T77" fmla="*/ 22 h 1533"/>
                <a:gd name="T78" fmla="*/ 84 w 636"/>
                <a:gd name="T79" fmla="*/ 9 h 1533"/>
                <a:gd name="T80" fmla="*/ 108 w 636"/>
                <a:gd name="T81" fmla="*/ 2 h 1533"/>
                <a:gd name="T82" fmla="*/ 134 w 636"/>
                <a:gd name="T83" fmla="*/ 0 h 15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36" h="1533">
                  <a:moveTo>
                    <a:pt x="134" y="0"/>
                  </a:moveTo>
                  <a:lnTo>
                    <a:pt x="160" y="2"/>
                  </a:lnTo>
                  <a:lnTo>
                    <a:pt x="184" y="9"/>
                  </a:lnTo>
                  <a:lnTo>
                    <a:pt x="207" y="22"/>
                  </a:lnTo>
                  <a:lnTo>
                    <a:pt x="228" y="38"/>
                  </a:lnTo>
                  <a:lnTo>
                    <a:pt x="596" y="407"/>
                  </a:lnTo>
                  <a:lnTo>
                    <a:pt x="608" y="421"/>
                  </a:lnTo>
                  <a:lnTo>
                    <a:pt x="619" y="439"/>
                  </a:lnTo>
                  <a:lnTo>
                    <a:pt x="628" y="460"/>
                  </a:lnTo>
                  <a:lnTo>
                    <a:pt x="634" y="484"/>
                  </a:lnTo>
                  <a:lnTo>
                    <a:pt x="636" y="512"/>
                  </a:lnTo>
                  <a:lnTo>
                    <a:pt x="636" y="1399"/>
                  </a:lnTo>
                  <a:lnTo>
                    <a:pt x="633" y="1426"/>
                  </a:lnTo>
                  <a:lnTo>
                    <a:pt x="625" y="1452"/>
                  </a:lnTo>
                  <a:lnTo>
                    <a:pt x="613" y="1474"/>
                  </a:lnTo>
                  <a:lnTo>
                    <a:pt x="596" y="1493"/>
                  </a:lnTo>
                  <a:lnTo>
                    <a:pt x="576" y="1510"/>
                  </a:lnTo>
                  <a:lnTo>
                    <a:pt x="554" y="1522"/>
                  </a:lnTo>
                  <a:lnTo>
                    <a:pt x="529" y="1530"/>
                  </a:lnTo>
                  <a:lnTo>
                    <a:pt x="502" y="1533"/>
                  </a:lnTo>
                  <a:lnTo>
                    <a:pt x="475" y="1530"/>
                  </a:lnTo>
                  <a:lnTo>
                    <a:pt x="450" y="1522"/>
                  </a:lnTo>
                  <a:lnTo>
                    <a:pt x="428" y="1510"/>
                  </a:lnTo>
                  <a:lnTo>
                    <a:pt x="408" y="1493"/>
                  </a:lnTo>
                  <a:lnTo>
                    <a:pt x="392" y="1474"/>
                  </a:lnTo>
                  <a:lnTo>
                    <a:pt x="380" y="1452"/>
                  </a:lnTo>
                  <a:lnTo>
                    <a:pt x="372" y="1426"/>
                  </a:lnTo>
                  <a:lnTo>
                    <a:pt x="369" y="1399"/>
                  </a:lnTo>
                  <a:lnTo>
                    <a:pt x="369" y="557"/>
                  </a:lnTo>
                  <a:lnTo>
                    <a:pt x="40" y="228"/>
                  </a:lnTo>
                  <a:lnTo>
                    <a:pt x="22" y="207"/>
                  </a:lnTo>
                  <a:lnTo>
                    <a:pt x="10" y="183"/>
                  </a:lnTo>
                  <a:lnTo>
                    <a:pt x="2" y="158"/>
                  </a:lnTo>
                  <a:lnTo>
                    <a:pt x="0" y="133"/>
                  </a:lnTo>
                  <a:lnTo>
                    <a:pt x="2" y="107"/>
                  </a:lnTo>
                  <a:lnTo>
                    <a:pt x="10" y="82"/>
                  </a:lnTo>
                  <a:lnTo>
                    <a:pt x="22" y="59"/>
                  </a:lnTo>
                  <a:lnTo>
                    <a:pt x="40" y="38"/>
                  </a:lnTo>
                  <a:lnTo>
                    <a:pt x="61" y="22"/>
                  </a:lnTo>
                  <a:lnTo>
                    <a:pt x="84" y="9"/>
                  </a:lnTo>
                  <a:lnTo>
                    <a:pt x="108" y="2"/>
                  </a:lnTo>
                  <a:lnTo>
                    <a:pt x="1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7" name="Freeform 904">
              <a:extLst>
                <a:ext uri="{FF2B5EF4-FFF2-40B4-BE49-F238E27FC236}">
                  <a16:creationId xmlns:a16="http://schemas.microsoft.com/office/drawing/2014/main" id="{0650C907-6648-9482-9C32-388A0D830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764"/>
              <a:ext cx="85" cy="85"/>
            </a:xfrm>
            <a:custGeom>
              <a:avLst/>
              <a:gdLst>
                <a:gd name="T0" fmla="*/ 204 w 337"/>
                <a:gd name="T1" fmla="*/ 0 h 338"/>
                <a:gd name="T2" fmla="*/ 230 w 337"/>
                <a:gd name="T3" fmla="*/ 2 h 338"/>
                <a:gd name="T4" fmla="*/ 254 w 337"/>
                <a:gd name="T5" fmla="*/ 10 h 338"/>
                <a:gd name="T6" fmla="*/ 277 w 337"/>
                <a:gd name="T7" fmla="*/ 22 h 338"/>
                <a:gd name="T8" fmla="*/ 298 w 337"/>
                <a:gd name="T9" fmla="*/ 38 h 338"/>
                <a:gd name="T10" fmla="*/ 315 w 337"/>
                <a:gd name="T11" fmla="*/ 59 h 338"/>
                <a:gd name="T12" fmla="*/ 327 w 337"/>
                <a:gd name="T13" fmla="*/ 83 h 338"/>
                <a:gd name="T14" fmla="*/ 335 w 337"/>
                <a:gd name="T15" fmla="*/ 108 h 338"/>
                <a:gd name="T16" fmla="*/ 337 w 337"/>
                <a:gd name="T17" fmla="*/ 133 h 338"/>
                <a:gd name="T18" fmla="*/ 335 w 337"/>
                <a:gd name="T19" fmla="*/ 159 h 338"/>
                <a:gd name="T20" fmla="*/ 327 w 337"/>
                <a:gd name="T21" fmla="*/ 184 h 338"/>
                <a:gd name="T22" fmla="*/ 315 w 337"/>
                <a:gd name="T23" fmla="*/ 207 h 338"/>
                <a:gd name="T24" fmla="*/ 298 w 337"/>
                <a:gd name="T25" fmla="*/ 228 h 338"/>
                <a:gd name="T26" fmla="*/ 227 w 337"/>
                <a:gd name="T27" fmla="*/ 298 h 338"/>
                <a:gd name="T28" fmla="*/ 206 w 337"/>
                <a:gd name="T29" fmla="*/ 316 h 338"/>
                <a:gd name="T30" fmla="*/ 183 w 337"/>
                <a:gd name="T31" fmla="*/ 328 h 338"/>
                <a:gd name="T32" fmla="*/ 158 w 337"/>
                <a:gd name="T33" fmla="*/ 335 h 338"/>
                <a:gd name="T34" fmla="*/ 133 w 337"/>
                <a:gd name="T35" fmla="*/ 338 h 338"/>
                <a:gd name="T36" fmla="*/ 107 w 337"/>
                <a:gd name="T37" fmla="*/ 334 h 338"/>
                <a:gd name="T38" fmla="*/ 83 w 337"/>
                <a:gd name="T39" fmla="*/ 328 h 338"/>
                <a:gd name="T40" fmla="*/ 60 w 337"/>
                <a:gd name="T41" fmla="*/ 316 h 338"/>
                <a:gd name="T42" fmla="*/ 39 w 337"/>
                <a:gd name="T43" fmla="*/ 298 h 338"/>
                <a:gd name="T44" fmla="*/ 22 w 337"/>
                <a:gd name="T45" fmla="*/ 277 h 338"/>
                <a:gd name="T46" fmla="*/ 10 w 337"/>
                <a:gd name="T47" fmla="*/ 254 h 338"/>
                <a:gd name="T48" fmla="*/ 3 w 337"/>
                <a:gd name="T49" fmla="*/ 229 h 338"/>
                <a:gd name="T50" fmla="*/ 0 w 337"/>
                <a:gd name="T51" fmla="*/ 203 h 338"/>
                <a:gd name="T52" fmla="*/ 3 w 337"/>
                <a:gd name="T53" fmla="*/ 178 h 338"/>
                <a:gd name="T54" fmla="*/ 10 w 337"/>
                <a:gd name="T55" fmla="*/ 153 h 338"/>
                <a:gd name="T56" fmla="*/ 22 w 337"/>
                <a:gd name="T57" fmla="*/ 130 h 338"/>
                <a:gd name="T58" fmla="*/ 39 w 337"/>
                <a:gd name="T59" fmla="*/ 109 h 338"/>
                <a:gd name="T60" fmla="*/ 110 w 337"/>
                <a:gd name="T61" fmla="*/ 38 h 338"/>
                <a:gd name="T62" fmla="*/ 131 w 337"/>
                <a:gd name="T63" fmla="*/ 22 h 338"/>
                <a:gd name="T64" fmla="*/ 154 w 337"/>
                <a:gd name="T65" fmla="*/ 10 h 338"/>
                <a:gd name="T66" fmla="*/ 179 w 337"/>
                <a:gd name="T67" fmla="*/ 2 h 338"/>
                <a:gd name="T68" fmla="*/ 204 w 337"/>
                <a:gd name="T69" fmla="*/ 0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7" h="338">
                  <a:moveTo>
                    <a:pt x="204" y="0"/>
                  </a:moveTo>
                  <a:lnTo>
                    <a:pt x="230" y="2"/>
                  </a:lnTo>
                  <a:lnTo>
                    <a:pt x="254" y="10"/>
                  </a:lnTo>
                  <a:lnTo>
                    <a:pt x="277" y="22"/>
                  </a:lnTo>
                  <a:lnTo>
                    <a:pt x="298" y="38"/>
                  </a:lnTo>
                  <a:lnTo>
                    <a:pt x="315" y="59"/>
                  </a:lnTo>
                  <a:lnTo>
                    <a:pt x="327" y="83"/>
                  </a:lnTo>
                  <a:lnTo>
                    <a:pt x="335" y="108"/>
                  </a:lnTo>
                  <a:lnTo>
                    <a:pt x="337" y="133"/>
                  </a:lnTo>
                  <a:lnTo>
                    <a:pt x="335" y="159"/>
                  </a:lnTo>
                  <a:lnTo>
                    <a:pt x="327" y="184"/>
                  </a:lnTo>
                  <a:lnTo>
                    <a:pt x="315" y="207"/>
                  </a:lnTo>
                  <a:lnTo>
                    <a:pt x="298" y="228"/>
                  </a:lnTo>
                  <a:lnTo>
                    <a:pt x="227" y="298"/>
                  </a:lnTo>
                  <a:lnTo>
                    <a:pt x="206" y="316"/>
                  </a:lnTo>
                  <a:lnTo>
                    <a:pt x="183" y="328"/>
                  </a:lnTo>
                  <a:lnTo>
                    <a:pt x="158" y="335"/>
                  </a:lnTo>
                  <a:lnTo>
                    <a:pt x="133" y="338"/>
                  </a:lnTo>
                  <a:lnTo>
                    <a:pt x="107" y="334"/>
                  </a:lnTo>
                  <a:lnTo>
                    <a:pt x="83" y="328"/>
                  </a:lnTo>
                  <a:lnTo>
                    <a:pt x="60" y="316"/>
                  </a:lnTo>
                  <a:lnTo>
                    <a:pt x="39" y="298"/>
                  </a:lnTo>
                  <a:lnTo>
                    <a:pt x="22" y="277"/>
                  </a:lnTo>
                  <a:lnTo>
                    <a:pt x="10" y="254"/>
                  </a:lnTo>
                  <a:lnTo>
                    <a:pt x="3" y="229"/>
                  </a:lnTo>
                  <a:lnTo>
                    <a:pt x="0" y="203"/>
                  </a:lnTo>
                  <a:lnTo>
                    <a:pt x="3" y="178"/>
                  </a:lnTo>
                  <a:lnTo>
                    <a:pt x="10" y="153"/>
                  </a:lnTo>
                  <a:lnTo>
                    <a:pt x="22" y="130"/>
                  </a:lnTo>
                  <a:lnTo>
                    <a:pt x="39" y="109"/>
                  </a:lnTo>
                  <a:lnTo>
                    <a:pt x="110" y="38"/>
                  </a:lnTo>
                  <a:lnTo>
                    <a:pt x="131" y="22"/>
                  </a:lnTo>
                  <a:lnTo>
                    <a:pt x="154" y="10"/>
                  </a:lnTo>
                  <a:lnTo>
                    <a:pt x="179" y="2"/>
                  </a:lnTo>
                  <a:lnTo>
                    <a:pt x="2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2652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611C-CD5F-4360-3547-62BAF2F4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91E91AE-7377-5953-1E60-3C7702342F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74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8C33E2-F85F-288B-A693-75951009A766}"/>
              </a:ext>
            </a:extLst>
          </p:cNvPr>
          <p:cNvSpPr txBox="1"/>
          <p:nvPr/>
        </p:nvSpPr>
        <p:spPr>
          <a:xfrm>
            <a:off x="2717931" y="6025944"/>
            <a:ext cx="67538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rgbClr val="470FAE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РАЗРАБОТКА ВИРТУАЛЬНОЙ ЛАБОРАТОРИИ ДЛЯ АНАЛИЗА ФИЛЬТРОВ ОЦЕНКИ СОСТОЯНИЯ НА МОБИЛЬНЫХ СЕНСОРАХ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A36B8A-5B4A-3130-965A-09768CB2625E}"/>
              </a:ext>
            </a:extLst>
          </p:cNvPr>
          <p:cNvSpPr txBox="1">
            <a:spLocks/>
          </p:cNvSpPr>
          <p:nvPr/>
        </p:nvSpPr>
        <p:spPr>
          <a:xfrm>
            <a:off x="11164563" y="6032302"/>
            <a:ext cx="836721" cy="57262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800" dirty="0">
                <a:solidFill>
                  <a:srgbClr val="7030A0"/>
                </a:solidFill>
                <a:latin typeface="+mn-lt"/>
                <a:cs typeface="Arial" panose="020B0604020202020204" pitchFamily="34" charset="0"/>
              </a:rPr>
              <a:t>13/14</a:t>
            </a:r>
          </a:p>
        </p:txBody>
      </p:sp>
      <p:sp>
        <p:nvSpPr>
          <p:cNvPr id="3" name="Заголовок 3">
            <a:extLst>
              <a:ext uri="{FF2B5EF4-FFF2-40B4-BE49-F238E27FC236}">
                <a16:creationId xmlns:a16="http://schemas.microsoft.com/office/drawing/2014/main" id="{9A10EC7C-F6A5-FCBB-D03C-2F600E3CA1AF}"/>
              </a:ext>
            </a:extLst>
          </p:cNvPr>
          <p:cNvSpPr txBox="1">
            <a:spLocks/>
          </p:cNvSpPr>
          <p:nvPr/>
        </p:nvSpPr>
        <p:spPr>
          <a:xfrm>
            <a:off x="3650017" y="247281"/>
            <a:ext cx="4889714" cy="5847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700" b="1" dirty="0">
                <a:solidFill>
                  <a:srgbClr val="7030A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Заключение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22A91D-6A4C-AB60-EB5E-4546A20F1A00}"/>
              </a:ext>
            </a:extLst>
          </p:cNvPr>
          <p:cNvSpPr txBox="1"/>
          <p:nvPr/>
        </p:nvSpPr>
        <p:spPr>
          <a:xfrm>
            <a:off x="428625" y="1677323"/>
            <a:ext cx="1157265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Реализована </a:t>
            </a:r>
            <a:r>
              <a:rPr lang="ru-RU" sz="24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Android</a:t>
            </a: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-библиотека для фильтрации GPS-траекторий.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Поддерживается обработка GPS/IMU-данных, обучение нейросети и сравнение методов фильтрации.</a:t>
            </a:r>
            <a:endParaRPr lang="en-US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Фильтр Калмана показал устойчивую базовую фильтрацию, нейросеть — дополнительное адаптивное сглаживание.</a:t>
            </a:r>
          </a:p>
        </p:txBody>
      </p:sp>
    </p:spTree>
    <p:extLst>
      <p:ext uri="{BB962C8B-B14F-4D97-AF65-F5344CB8AC3E}">
        <p14:creationId xmlns:p14="http://schemas.microsoft.com/office/powerpoint/2010/main" val="808829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085"/>
            <a:ext cx="12192000" cy="694508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86535" y="3013501"/>
            <a:ext cx="60189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solidFill>
                  <a:schemeClr val="bg1"/>
                </a:solidFill>
                <a:latin typeface="Gotham Pro Black" panose="02000903040000020004" pitchFamily="2" charset="0"/>
                <a:cs typeface="Gotham Pro Black" panose="02000903040000020004" pitchFamily="2" charset="0"/>
              </a:rPr>
              <a:t>Спасибо за внимание!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" y="5426090"/>
            <a:ext cx="3405051" cy="1375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09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701</Words>
  <Application>Microsoft Office PowerPoint</Application>
  <PresentationFormat>Широкоэкранный</PresentationFormat>
  <Paragraphs>138</Paragraphs>
  <Slides>15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Gotham Pro Black</vt:lpstr>
      <vt:lpstr>Open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пк-28</dc:creator>
  <cp:lastModifiedBy>Даниил Катков</cp:lastModifiedBy>
  <cp:revision>38</cp:revision>
  <dcterms:created xsi:type="dcterms:W3CDTF">2023-01-24T12:30:52Z</dcterms:created>
  <dcterms:modified xsi:type="dcterms:W3CDTF">2026-06-24T18:36:51Z</dcterms:modified>
</cp:coreProperties>
</file>